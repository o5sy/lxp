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6858000" cx="12192000"/>
  <p:notesSz cx="6858000" cy="12192000"/>
  <p:embeddedFontLst>
    <p:embeddedFont>
      <p:font typeface="Fraunces"/>
      <p:regular r:id="rId14"/>
      <p:bold r:id="rId15"/>
      <p:italic r:id="rId16"/>
      <p:boldItalic r:id="rId17"/>
    </p:embeddedFont>
    <p:embeddedFont>
      <p:font typeface="Instrument Sans"/>
      <p:regular r:id="rId18"/>
      <p:bold r:id="rId19"/>
      <p:italic r:id="rId20"/>
      <p:boldItalic r:id="rId21"/>
    </p:embeddedFont>
    <p:embeddedFont>
      <p:font typeface="JetBrains Mon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gI1auZyjSymoVNR0se0Bsuq/ON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InstrumentSans-italic.fntdata"/><Relationship Id="rId22" Type="http://schemas.openxmlformats.org/officeDocument/2006/relationships/font" Target="fonts/JetBrainsMono-regular.fntdata"/><Relationship Id="rId21" Type="http://schemas.openxmlformats.org/officeDocument/2006/relationships/font" Target="fonts/InstrumentSans-boldItalic.fntdata"/><Relationship Id="rId24" Type="http://schemas.openxmlformats.org/officeDocument/2006/relationships/font" Target="fonts/JetBrainsMono-italic.fntdata"/><Relationship Id="rId23" Type="http://schemas.openxmlformats.org/officeDocument/2006/relationships/font" Target="fonts/JetBrainsMono-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customschemas.google.com/relationships/presentationmetadata" Target="metadata"/><Relationship Id="rId25" Type="http://schemas.openxmlformats.org/officeDocument/2006/relationships/font" Target="fonts/JetBrainsMono-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font" Target="fonts/Fraunces-bold.fntdata"/><Relationship Id="rId14" Type="http://schemas.openxmlformats.org/officeDocument/2006/relationships/font" Target="fonts/Fraunces-regular.fntdata"/><Relationship Id="rId17" Type="http://schemas.openxmlformats.org/officeDocument/2006/relationships/font" Target="fonts/Fraunces-boldItalic.fntdata"/><Relationship Id="rId16" Type="http://schemas.openxmlformats.org/officeDocument/2006/relationships/font" Target="fonts/Fraunces-italic.fntdata"/><Relationship Id="rId19" Type="http://schemas.openxmlformats.org/officeDocument/2006/relationships/font" Target="fonts/InstrumentSans-bold.fntdata"/><Relationship Id="rId18" Type="http://schemas.openxmlformats.org/officeDocument/2006/relationships/font" Target="fonts/InstrumentSans-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 name="Google Shape;6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지금부터 준비된 데모 영상을 보며 설명드리도록 하겠습니다.</a:t>
            </a:r>
            <a:br>
              <a:rPr lang="en-US"/>
            </a:br>
            <a:r>
              <a:rPr lang="en-US"/>
              <a:t>1. 개념 입력 - 이미 들어서 알고는 있지만 아직 코드로 적용해보지 못한 개념을 입력합니다.</a:t>
            </a:r>
            <a:br>
              <a:rPr lang="en-US"/>
            </a:br>
            <a:r>
              <a:rPr lang="en-US"/>
              <a:t>2. 목표 선택 - 문법/적용/종합 중 본인 상황에 필요한 단계를 고릅니다.</a:t>
            </a:r>
            <a:br>
              <a:rPr lang="en-US"/>
            </a:br>
            <a:r>
              <a:rPr lang="en-US"/>
              <a:t>3. 추가 설명(선택) - 더 학습하고 싶은 부분을 한 줄로. 비워도 됨.</a:t>
            </a:r>
            <a:br>
              <a:rPr lang="en-US"/>
            </a:br>
            <a:r>
              <a:rPr lang="en-US"/>
              <a:t>4. 생성 -&gt; 스트리밍 - 값들을 조합한 프롬프트로 실습을 만들고 토큰 단위로 스트리밍.</a:t>
            </a:r>
            <a:br>
              <a:rPr lang="en-US"/>
            </a:br>
            <a:r>
              <a:rPr lang="en-US"/>
              <a:t>5. 실습 진행 - 같은 화면에서 코드 작성·실행. 전환 비용 제거.</a:t>
            </a:r>
            <a:br>
              <a:rPr lang="en-US"/>
            </a:br>
            <a:r>
              <a:rPr lang="en-US"/>
              <a:t>6. 피드백 받기 - 정답 대신 관찰 설명 + 다음 질문 톤.</a:t>
            </a:r>
            <a:br>
              <a:rPr lang="en-US"/>
            </a:br>
            <a:r>
              <a:rPr lang="en-US"/>
              <a:t>7. 완료 판정 - 완료 기준 충족 여부를 자동 판정.</a:t>
            </a:r>
            <a:endParaRPr/>
          </a:p>
        </p:txBody>
      </p:sp>
      <p:sp>
        <p:nvSpPr>
          <p:cNvPr id="83" name="Google Shape;8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먼저 Next.js는 API 키를 클라이언트에 노출하지 않고 서버를 거쳐 안전하게 호출하기 위해 선택했습니다. Sandpack은 실행 환경이 이미 갖춰진 검증된 도구라 정해진 기간 안에 작업하기 맞았습니다. Gemini API는 무료로 먼저 검증하려고 골랐는데 품질도 괜찮았고, 표준 스트리밍을 지원하는 Vercel AI SDK를 함께 썼습니다. Zustand는 토큰 스트리밍 중 불필요한 리렌더를 막기 위해, Base UI는 접근성을 직접 구현하지 않기 위해 선택했습니다.</a:t>
            </a:r>
            <a:br>
              <a:rPr lang="en-US"/>
            </a:br>
            <a:r>
              <a:rPr lang="en-US"/>
              <a:t>메모: 시간이 빠듯하면 상태 관리 / 접근성 카드는 눈으로만 읽게 하고, Sandpack·Gemini 카드만 반드시 구두로 짚는다.</a:t>
            </a:r>
            <a:endParaRPr/>
          </a:p>
        </p:txBody>
      </p:sp>
      <p:sp>
        <p:nvSpPr>
          <p:cNvPr id="140" name="Google Shape;14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성능은 제가 직접 붙잡고 있기보다 클로드 코드에게 백그라운드로 Lighthouse 측정과 리포트 정리를 맡겼습니다. 메인 페이지 JS는 163KB, 성능 75점, 접근성 94점입니다. 다만 스트리밍 전후 정식 A/B 비교는 못했고 단일 빌드 실측치만 제시합니다. 안정성은 5개 상태를 코드로 구현했고 빈 입력·API 실패 방어도 확인했습니다. 구현에 시간을 많이 쓰다 보니 긴 텍스트 방어·재현성 자동화·생성 품질 채점은 다음 개선 과제로 남겨뒀습니다.</a:t>
            </a:r>
            <a:endParaRPr/>
          </a:p>
        </p:txBody>
      </p:sp>
      <p:sp>
        <p:nvSpPr>
          <p:cNvPr id="180" name="Google Shape;18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이번 프로젝트의 목표는 AI 기능이 들어간 화면 하나를 완성도 있게 만드는 것이었습니다. 그럼에도 생성-실행-피드백-완료판정 핵심 루프는 실제로 동작하는 형태로 구현했습니다. 목표 달성 포인트는 학습 단계별로 실습 목표가 달라야 한다는 걸 핵심 가치로 잡아 이해·적용·종합 기능으로 만든 것입니다. 개인적으로 5일 안에 이 정도 완성도가 가능하다는 게 놀라웠고, 구현은 AI에 위임하고 문제 정의·설계에 집중할 수 있어 좋았습니다. 앞으로는 폰트 서브셋 축소, 스트리밍 체감 속도 개선, 상태/요구사항 확장성 기반을 다질 계획입니다. 실제 서비스로 확장하려면 데이터 영속성, 세션 관리, 실사용자 검증, 보안이 더 필요하고, 프롬프트 빌더 보완은 이번에 작업하면서 정리해둔 별도 태스크로 남겨뒀습니다.</a:t>
            </a:r>
            <a:endParaRPr/>
          </a:p>
        </p:txBody>
      </p:sp>
      <p:sp>
        <p:nvSpPr>
          <p:cNvPr id="206" name="Google Shape;20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lxp-three.vercel.app/"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drive.google.com/file/d/1GcX56mA-yExZ5iFwV17OtWNpHkRce4cw/view" TargetMode="Externa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claude.md"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15" name="Shape 15"/>
        <p:cNvGrpSpPr/>
        <p:nvPr/>
      </p:nvGrpSpPr>
      <p:grpSpPr>
        <a:xfrm>
          <a:off x="0" y="0"/>
          <a:ext cx="0" cy="0"/>
          <a:chOff x="0" y="0"/>
          <a:chExt cx="0" cy="0"/>
        </a:xfrm>
      </p:grpSpPr>
      <p:sp>
        <p:nvSpPr>
          <p:cNvPr id="16" name="Google Shape;16;p1"/>
          <p:cNvSpPr/>
          <p:nvPr/>
        </p:nvSpPr>
        <p:spPr>
          <a:xfrm>
            <a:off x="822960" y="1965960"/>
            <a:ext cx="10058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84FF"/>
              </a:buClr>
              <a:buSzPts val="1250"/>
              <a:buFont typeface="JetBrains Mono"/>
              <a:buNone/>
            </a:pPr>
            <a:r>
              <a:rPr b="0" i="0" lang="en-US" sz="1250" u="none" cap="none" strike="noStrike">
                <a:solidFill>
                  <a:srgbClr val="0A84FF"/>
                </a:solidFill>
                <a:latin typeface="JetBrains Mono"/>
                <a:ea typeface="JetBrains Mono"/>
                <a:cs typeface="JetBrains Mono"/>
                <a:sym typeface="JetBrains Mono"/>
              </a:rPr>
              <a:t>WANTED AI NATIVE CAREER CAMP  ·  1차 프로젝트 발표</a:t>
            </a:r>
            <a:endParaRPr b="0" i="0" sz="1250" u="none" cap="none" strike="noStrike">
              <a:solidFill>
                <a:schemeClr val="dk1"/>
              </a:solidFill>
              <a:latin typeface="Calibri"/>
              <a:ea typeface="Calibri"/>
              <a:cs typeface="Calibri"/>
              <a:sym typeface="Calibri"/>
            </a:endParaRPr>
          </a:p>
        </p:txBody>
      </p:sp>
      <p:sp>
        <p:nvSpPr>
          <p:cNvPr id="17" name="Google Shape;17;p1"/>
          <p:cNvSpPr/>
          <p:nvPr/>
        </p:nvSpPr>
        <p:spPr>
          <a:xfrm>
            <a:off x="822960" y="2377440"/>
            <a:ext cx="100584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F2F5"/>
              </a:buClr>
              <a:buSzPts val="4400"/>
              <a:buFont typeface="Instrument Sans"/>
              <a:buNone/>
            </a:pPr>
            <a:r>
              <a:rPr b="1" i="0" lang="en-US" sz="4400" u="none" cap="none" strike="noStrike">
                <a:solidFill>
                  <a:srgbClr val="F2F2F5"/>
                </a:solidFill>
                <a:latin typeface="Instrument Sans"/>
                <a:ea typeface="Instrument Sans"/>
                <a:cs typeface="Instrument Sans"/>
                <a:sym typeface="Instrument Sans"/>
              </a:rPr>
              <a:t>개발 학습 AI 튜터</a:t>
            </a:r>
            <a:endParaRPr b="0" i="0" sz="4400" u="none" cap="none" strike="noStrike">
              <a:solidFill>
                <a:schemeClr val="dk1"/>
              </a:solidFill>
              <a:latin typeface="Calibri"/>
              <a:ea typeface="Calibri"/>
              <a:cs typeface="Calibri"/>
              <a:sym typeface="Calibri"/>
            </a:endParaRPr>
          </a:p>
        </p:txBody>
      </p:sp>
      <p:sp>
        <p:nvSpPr>
          <p:cNvPr id="18" name="Google Shape;18;p1"/>
          <p:cNvSpPr/>
          <p:nvPr/>
        </p:nvSpPr>
        <p:spPr>
          <a:xfrm>
            <a:off x="822960" y="3337560"/>
            <a:ext cx="9601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F2F5"/>
              </a:buClr>
              <a:buSzPts val="2100"/>
              <a:buFont typeface="Fraunces"/>
              <a:buNone/>
            </a:pPr>
            <a:r>
              <a:rPr b="0" i="1" lang="en-US" sz="2100" u="none" cap="none" strike="noStrike">
                <a:solidFill>
                  <a:srgbClr val="F2F2F5"/>
                </a:solidFill>
                <a:latin typeface="Fraunces"/>
                <a:ea typeface="Fraunces"/>
                <a:cs typeface="Fraunces"/>
                <a:sym typeface="Fraunces"/>
              </a:rPr>
              <a:t>배운 개념을 실습으로 — 생성부터 실행, 피드백까지 한 화면에서</a:t>
            </a:r>
            <a:endParaRPr b="0" i="0" sz="2100" u="none" cap="none" strike="noStrike">
              <a:solidFill>
                <a:schemeClr val="dk1"/>
              </a:solidFill>
              <a:latin typeface="Calibri"/>
              <a:ea typeface="Calibri"/>
              <a:cs typeface="Calibri"/>
              <a:sym typeface="Calibri"/>
            </a:endParaRPr>
          </a:p>
        </p:txBody>
      </p:sp>
      <p:sp>
        <p:nvSpPr>
          <p:cNvPr id="19" name="Google Shape;19;p1"/>
          <p:cNvSpPr/>
          <p:nvPr/>
        </p:nvSpPr>
        <p:spPr>
          <a:xfrm>
            <a:off x="822960" y="5989320"/>
            <a:ext cx="5029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F2F5"/>
              </a:buClr>
              <a:buSzPts val="1300"/>
              <a:buFont typeface="Instrument Sans"/>
              <a:buNone/>
            </a:pPr>
            <a:r>
              <a:rPr b="1" i="0" lang="en-US" sz="1300" u="none" cap="none" strike="noStrike">
                <a:solidFill>
                  <a:srgbClr val="F2F2F5"/>
                </a:solidFill>
                <a:latin typeface="Instrument Sans"/>
                <a:ea typeface="Instrument Sans"/>
                <a:cs typeface="Instrument Sans"/>
                <a:sym typeface="Instrument Sans"/>
              </a:rPr>
              <a:t>개발 1기 · 오승연</a:t>
            </a:r>
            <a:endParaRPr b="0" i="0" sz="1300" u="none" cap="none" strike="noStrike">
              <a:solidFill>
                <a:schemeClr val="dk1"/>
              </a:solidFill>
              <a:latin typeface="Calibri"/>
              <a:ea typeface="Calibri"/>
              <a:cs typeface="Calibri"/>
              <a:sym typeface="Calibri"/>
            </a:endParaRPr>
          </a:p>
        </p:txBody>
      </p:sp>
      <p:sp>
        <p:nvSpPr>
          <p:cNvPr id="20" name="Google Shape;20;p1"/>
          <p:cNvSpPr/>
          <p:nvPr/>
        </p:nvSpPr>
        <p:spPr>
          <a:xfrm>
            <a:off x="6336792" y="6007608"/>
            <a:ext cx="4937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6E73"/>
              </a:buClr>
              <a:buSzPts val="1100"/>
              <a:buFont typeface="JetBrains Mono"/>
              <a:buNone/>
            </a:pPr>
            <a:r>
              <a:rPr b="0" i="0" lang="en-US" sz="1100" u="none" cap="none" strike="noStrike">
                <a:solidFill>
                  <a:srgbClr val="6E6E73"/>
                </a:solidFill>
                <a:latin typeface="JetBrains Mono"/>
                <a:ea typeface="JetBrains Mono"/>
                <a:cs typeface="JetBrains Mono"/>
                <a:sym typeface="JetBrains Mono"/>
              </a:rPr>
              <a:t>2026-08-26 </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25" name="Shape 25"/>
        <p:cNvGrpSpPr/>
        <p:nvPr/>
      </p:nvGrpSpPr>
      <p:grpSpPr>
        <a:xfrm>
          <a:off x="0" y="0"/>
          <a:ext cx="0" cy="0"/>
          <a:chOff x="0" y="0"/>
          <a:chExt cx="0" cy="0"/>
        </a:xfrm>
      </p:grpSpPr>
      <p:sp>
        <p:nvSpPr>
          <p:cNvPr id="26" name="Google Shape;26;p2"/>
          <p:cNvSpPr/>
          <p:nvPr/>
        </p:nvSpPr>
        <p:spPr>
          <a:xfrm>
            <a:off x="548640" y="41148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E73"/>
              </a:buClr>
              <a:buSzPts val="1100"/>
              <a:buFont typeface="JetBrains Mono"/>
              <a:buNone/>
            </a:pPr>
            <a:r>
              <a:rPr b="0" i="0" lang="en-US" sz="1100" u="none" cap="none" strike="noStrike">
                <a:solidFill>
                  <a:srgbClr val="6E6E73"/>
                </a:solidFill>
                <a:latin typeface="JetBrains Mono"/>
                <a:ea typeface="JetBrains Mono"/>
                <a:cs typeface="JetBrains Mono"/>
                <a:sym typeface="JetBrains Mono"/>
              </a:rPr>
              <a:t># CONTENTS</a:t>
            </a:r>
            <a:endParaRPr b="0" i="0" sz="1100" u="none" cap="none" strike="noStrike">
              <a:solidFill>
                <a:schemeClr val="dk1"/>
              </a:solidFill>
              <a:latin typeface="Calibri"/>
              <a:ea typeface="Calibri"/>
              <a:cs typeface="Calibri"/>
              <a:sym typeface="Calibri"/>
            </a:endParaRPr>
          </a:p>
        </p:txBody>
      </p:sp>
      <p:sp>
        <p:nvSpPr>
          <p:cNvPr id="27" name="Google Shape;27;p2"/>
          <p:cNvSpPr/>
          <p:nvPr/>
        </p:nvSpPr>
        <p:spPr>
          <a:xfrm>
            <a:off x="548640" y="731520"/>
            <a:ext cx="1109167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F2F5"/>
              </a:buClr>
              <a:buSzPts val="2700"/>
              <a:buFont typeface="Fraunces"/>
              <a:buNone/>
            </a:pPr>
            <a:r>
              <a:rPr b="0" i="1" lang="en-US" sz="2700" u="none" cap="none" strike="noStrike">
                <a:solidFill>
                  <a:srgbClr val="F2F2F5"/>
                </a:solidFill>
                <a:latin typeface="Fraunces"/>
                <a:ea typeface="Fraunces"/>
                <a:cs typeface="Fraunces"/>
                <a:sym typeface="Fraunces"/>
              </a:rPr>
              <a:t>발표 순서</a:t>
            </a:r>
            <a:endParaRPr b="0" i="0" sz="2700" u="none" cap="none" strike="noStrike">
              <a:solidFill>
                <a:schemeClr val="dk1"/>
              </a:solidFill>
              <a:latin typeface="Calibri"/>
              <a:ea typeface="Calibri"/>
              <a:cs typeface="Calibri"/>
              <a:sym typeface="Calibri"/>
            </a:endParaRPr>
          </a:p>
        </p:txBody>
      </p:sp>
      <p:sp>
        <p:nvSpPr>
          <p:cNvPr id="28" name="Google Shape;28;p2"/>
          <p:cNvSpPr/>
          <p:nvPr/>
        </p:nvSpPr>
        <p:spPr>
          <a:xfrm>
            <a:off x="548640" y="1371600"/>
            <a:ext cx="1109167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8989D"/>
              </a:buClr>
              <a:buSzPts val="1300"/>
              <a:buFont typeface="Instrument Sans"/>
              <a:buNone/>
            </a:pPr>
            <a:r>
              <a:rPr b="0" i="0" lang="en-US" sz="1300" u="none" cap="none" strike="noStrike">
                <a:solidFill>
                  <a:srgbClr val="98989D"/>
                </a:solidFill>
                <a:latin typeface="Instrument Sans"/>
                <a:ea typeface="Instrument Sans"/>
                <a:cs typeface="Instrument Sans"/>
                <a:sym typeface="Instrument Sans"/>
              </a:rPr>
              <a:t>프론트엔드 개발 직무 프로젝트 — AI 기능이 들어간 프로덕트 화면 하나</a:t>
            </a:r>
            <a:r>
              <a:rPr lang="en-US" sz="1300">
                <a:solidFill>
                  <a:srgbClr val="98989D"/>
                </a:solidFill>
                <a:latin typeface="Instrument Sans"/>
                <a:ea typeface="Instrument Sans"/>
                <a:cs typeface="Instrument Sans"/>
                <a:sym typeface="Instrument Sans"/>
              </a:rPr>
              <a:t> </a:t>
            </a:r>
            <a:r>
              <a:rPr b="0" i="0" lang="en-US" sz="1300" u="none" cap="none" strike="noStrike">
                <a:solidFill>
                  <a:srgbClr val="98989D"/>
                </a:solidFill>
                <a:latin typeface="Instrument Sans"/>
                <a:ea typeface="Instrument Sans"/>
                <a:cs typeface="Instrument Sans"/>
                <a:sym typeface="Instrument Sans"/>
              </a:rPr>
              <a:t>완성</a:t>
            </a:r>
            <a:endParaRPr b="0" i="0" sz="1300" u="none" cap="none" strike="noStrike">
              <a:solidFill>
                <a:schemeClr val="dk1"/>
              </a:solidFill>
              <a:latin typeface="Calibri"/>
              <a:ea typeface="Calibri"/>
              <a:cs typeface="Calibri"/>
              <a:sym typeface="Calibri"/>
            </a:endParaRPr>
          </a:p>
        </p:txBody>
      </p:sp>
      <p:sp>
        <p:nvSpPr>
          <p:cNvPr id="29" name="Google Shape;29;p2"/>
          <p:cNvSpPr/>
          <p:nvPr/>
        </p:nvSpPr>
        <p:spPr>
          <a:xfrm>
            <a:off x="548640" y="2057400"/>
            <a:ext cx="11091672" cy="731520"/>
          </a:xfrm>
          <a:prstGeom prst="roundRect">
            <a:avLst>
              <a:gd fmla="val 8750" name="adj"/>
            </a:avLst>
          </a:prstGeom>
          <a:solidFill>
            <a:srgbClr val="2A2A2C"/>
          </a:solidFill>
          <a:ln cap="flat" cmpd="sng" w="9525">
            <a:solidFill>
              <a:srgbClr val="3A3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777240" y="2194560"/>
            <a:ext cx="457200" cy="457200"/>
          </a:xfrm>
          <a:prstGeom prst="roundRect">
            <a:avLst>
              <a:gd fmla="val 10000" name="adj"/>
            </a:avLst>
          </a:prstGeom>
          <a:solidFill>
            <a:srgbClr val="161616"/>
          </a:solidFill>
          <a:ln cap="flat" cmpd="sng" w="9525">
            <a:solidFill>
              <a:srgbClr val="3A3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777240" y="219456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84FF"/>
              </a:buClr>
              <a:buSzPts val="1200"/>
              <a:buFont typeface="JetBrains Mono"/>
              <a:buNone/>
            </a:pPr>
            <a:r>
              <a:rPr b="1" i="0" lang="en-US" sz="1200" u="none" cap="none" strike="noStrike">
                <a:solidFill>
                  <a:srgbClr val="0A84FF"/>
                </a:solidFill>
                <a:latin typeface="JetBrains Mono"/>
                <a:ea typeface="JetBrains Mono"/>
                <a:cs typeface="JetBrains Mono"/>
                <a:sym typeface="JetBrains Mono"/>
              </a:rPr>
              <a:t>01</a:t>
            </a:r>
            <a:endParaRPr b="0" i="0" sz="1200" u="none" cap="none" strike="noStrike">
              <a:solidFill>
                <a:schemeClr val="dk1"/>
              </a:solidFill>
              <a:latin typeface="Calibri"/>
              <a:ea typeface="Calibri"/>
              <a:cs typeface="Calibri"/>
              <a:sym typeface="Calibri"/>
            </a:endParaRPr>
          </a:p>
        </p:txBody>
      </p:sp>
      <p:sp>
        <p:nvSpPr>
          <p:cNvPr id="32" name="Google Shape;32;p2"/>
          <p:cNvSpPr/>
          <p:nvPr/>
        </p:nvSpPr>
        <p:spPr>
          <a:xfrm>
            <a:off x="1508760" y="2167128"/>
            <a:ext cx="5943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F2F5"/>
              </a:buClr>
              <a:buSzPts val="1500"/>
              <a:buFont typeface="Instrument Sans"/>
              <a:buNone/>
            </a:pPr>
            <a:r>
              <a:rPr b="1" i="0" lang="en-US" sz="1500" u="none" cap="none" strike="noStrike">
                <a:solidFill>
                  <a:srgbClr val="F2F2F5"/>
                </a:solidFill>
                <a:latin typeface="Instrument Sans"/>
                <a:ea typeface="Instrument Sans"/>
                <a:cs typeface="Instrument Sans"/>
                <a:sym typeface="Instrument Sans"/>
              </a:rPr>
              <a:t>문제정의 + 가설</a:t>
            </a:r>
            <a:endParaRPr b="0" i="0" sz="1500" u="none" cap="none" strike="noStrike">
              <a:solidFill>
                <a:schemeClr val="dk1"/>
              </a:solidFill>
              <a:latin typeface="Calibri"/>
              <a:ea typeface="Calibri"/>
              <a:cs typeface="Calibri"/>
              <a:sym typeface="Calibri"/>
            </a:endParaRPr>
          </a:p>
        </p:txBody>
      </p:sp>
      <p:sp>
        <p:nvSpPr>
          <p:cNvPr id="33" name="Google Shape;33;p2"/>
          <p:cNvSpPr/>
          <p:nvPr/>
        </p:nvSpPr>
        <p:spPr>
          <a:xfrm>
            <a:off x="1508760" y="2487168"/>
            <a:ext cx="6858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8989D"/>
              </a:buClr>
              <a:buSzPts val="1050"/>
              <a:buFont typeface="Instrument Sans"/>
              <a:buNone/>
            </a:pPr>
            <a:r>
              <a:rPr b="0" i="0" lang="en-US" sz="1050" u="none" cap="none" strike="noStrike">
                <a:solidFill>
                  <a:srgbClr val="98989D"/>
                </a:solidFill>
                <a:latin typeface="Instrument Sans"/>
                <a:ea typeface="Instrument Sans"/>
                <a:cs typeface="Instrument Sans"/>
                <a:sym typeface="Instrument Sans"/>
              </a:rPr>
              <a:t>왜 이 프로젝트가 필요했는가</a:t>
            </a:r>
            <a:endParaRPr b="0" i="0" sz="1050" u="none" cap="none" strike="noStrike">
              <a:solidFill>
                <a:schemeClr val="dk1"/>
              </a:solidFill>
              <a:latin typeface="Calibri"/>
              <a:ea typeface="Calibri"/>
              <a:cs typeface="Calibri"/>
              <a:sym typeface="Calibri"/>
            </a:endParaRPr>
          </a:p>
        </p:txBody>
      </p:sp>
      <p:sp>
        <p:nvSpPr>
          <p:cNvPr id="34" name="Google Shape;34;p2"/>
          <p:cNvSpPr/>
          <p:nvPr/>
        </p:nvSpPr>
        <p:spPr>
          <a:xfrm>
            <a:off x="8321040" y="2057400"/>
            <a:ext cx="3108960" cy="7315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6E73"/>
              </a:buClr>
              <a:buSzPts val="1100"/>
              <a:buFont typeface="JetBrains Mono"/>
              <a:buNone/>
            </a:pPr>
            <a:r>
              <a:rPr b="0" i="0" lang="en-US" sz="1100" u="none" cap="none" strike="noStrike">
                <a:solidFill>
                  <a:srgbClr val="6E6E73"/>
                </a:solidFill>
                <a:latin typeface="JetBrains Mono"/>
                <a:ea typeface="JetBrains Mono"/>
                <a:cs typeface="JetBrains Mono"/>
                <a:sym typeface="JetBrains Mono"/>
              </a:rPr>
              <a:t>0:00 – 0:35</a:t>
            </a:r>
            <a:endParaRPr b="0" i="0" sz="1100" u="none" cap="none" strike="noStrike">
              <a:solidFill>
                <a:schemeClr val="dk1"/>
              </a:solidFill>
              <a:latin typeface="Calibri"/>
              <a:ea typeface="Calibri"/>
              <a:cs typeface="Calibri"/>
              <a:sym typeface="Calibri"/>
            </a:endParaRPr>
          </a:p>
        </p:txBody>
      </p:sp>
      <p:sp>
        <p:nvSpPr>
          <p:cNvPr id="35" name="Google Shape;35;p2"/>
          <p:cNvSpPr/>
          <p:nvPr/>
        </p:nvSpPr>
        <p:spPr>
          <a:xfrm>
            <a:off x="548640" y="2907792"/>
            <a:ext cx="11091672" cy="731520"/>
          </a:xfrm>
          <a:prstGeom prst="roundRect">
            <a:avLst>
              <a:gd fmla="val 8750" name="adj"/>
            </a:avLst>
          </a:prstGeom>
          <a:solidFill>
            <a:srgbClr val="2A2A2C"/>
          </a:solidFill>
          <a:ln cap="flat" cmpd="sng" w="9525">
            <a:solidFill>
              <a:srgbClr val="3A3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777240" y="3044952"/>
            <a:ext cx="457200" cy="457200"/>
          </a:xfrm>
          <a:prstGeom prst="roundRect">
            <a:avLst>
              <a:gd fmla="val 10000" name="adj"/>
            </a:avLst>
          </a:prstGeom>
          <a:solidFill>
            <a:srgbClr val="161616"/>
          </a:solidFill>
          <a:ln cap="flat" cmpd="sng" w="9525">
            <a:solidFill>
              <a:srgbClr val="3A3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777240" y="304495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84FF"/>
              </a:buClr>
              <a:buSzPts val="1200"/>
              <a:buFont typeface="JetBrains Mono"/>
              <a:buNone/>
            </a:pPr>
            <a:r>
              <a:rPr b="1" i="0" lang="en-US" sz="1200" u="none" cap="none" strike="noStrike">
                <a:solidFill>
                  <a:srgbClr val="0A84FF"/>
                </a:solidFill>
                <a:latin typeface="JetBrains Mono"/>
                <a:ea typeface="JetBrains Mono"/>
                <a:cs typeface="JetBrains Mono"/>
                <a:sym typeface="JetBrains Mono"/>
              </a:rPr>
              <a:t>02</a:t>
            </a:r>
            <a:endParaRPr b="0" i="0" sz="1200" u="none" cap="none" strike="noStrike">
              <a:solidFill>
                <a:schemeClr val="dk1"/>
              </a:solidFill>
              <a:latin typeface="Calibri"/>
              <a:ea typeface="Calibri"/>
              <a:cs typeface="Calibri"/>
              <a:sym typeface="Calibri"/>
            </a:endParaRPr>
          </a:p>
        </p:txBody>
      </p:sp>
      <p:sp>
        <p:nvSpPr>
          <p:cNvPr id="38" name="Google Shape;38;p2"/>
          <p:cNvSpPr/>
          <p:nvPr/>
        </p:nvSpPr>
        <p:spPr>
          <a:xfrm>
            <a:off x="1508760" y="3017520"/>
            <a:ext cx="5943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F2F5"/>
              </a:buClr>
              <a:buSzPts val="1500"/>
              <a:buFont typeface="Instrument Sans"/>
              <a:buNone/>
            </a:pPr>
            <a:r>
              <a:rPr b="1" i="0" lang="en-US" sz="1500" u="none" cap="none" strike="noStrike">
                <a:solidFill>
                  <a:srgbClr val="F2F2F5"/>
                </a:solidFill>
                <a:latin typeface="Instrument Sans"/>
                <a:ea typeface="Instrument Sans"/>
                <a:cs typeface="Instrument Sans"/>
                <a:sym typeface="Instrument Sans"/>
              </a:rPr>
              <a:t>데모</a:t>
            </a:r>
            <a:endParaRPr b="0" i="0" sz="1500" u="none" cap="none" strike="noStrike">
              <a:solidFill>
                <a:schemeClr val="dk1"/>
              </a:solidFill>
              <a:latin typeface="Calibri"/>
              <a:ea typeface="Calibri"/>
              <a:cs typeface="Calibri"/>
              <a:sym typeface="Calibri"/>
            </a:endParaRPr>
          </a:p>
        </p:txBody>
      </p:sp>
      <p:sp>
        <p:nvSpPr>
          <p:cNvPr id="39" name="Google Shape;39;p2"/>
          <p:cNvSpPr/>
          <p:nvPr/>
        </p:nvSpPr>
        <p:spPr>
          <a:xfrm>
            <a:off x="1508760" y="3337560"/>
            <a:ext cx="6858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8989D"/>
              </a:buClr>
              <a:buSzPts val="1050"/>
              <a:buFont typeface="Instrument Sans"/>
              <a:buNone/>
            </a:pPr>
            <a:r>
              <a:rPr b="0" i="0" lang="en-US" sz="1050" u="none" cap="none" strike="noStrike">
                <a:solidFill>
                  <a:srgbClr val="98989D"/>
                </a:solidFill>
                <a:latin typeface="Instrument Sans"/>
                <a:ea typeface="Instrument Sans"/>
                <a:cs typeface="Instrument Sans"/>
                <a:sym typeface="Instrument Sans"/>
              </a:rPr>
              <a:t>생성부터 실행, 피드백까지 한 화면에서</a:t>
            </a:r>
            <a:endParaRPr b="0" i="0" sz="1050" u="none" cap="none" strike="noStrike">
              <a:solidFill>
                <a:schemeClr val="dk1"/>
              </a:solidFill>
              <a:latin typeface="Calibri"/>
              <a:ea typeface="Calibri"/>
              <a:cs typeface="Calibri"/>
              <a:sym typeface="Calibri"/>
            </a:endParaRPr>
          </a:p>
        </p:txBody>
      </p:sp>
      <p:sp>
        <p:nvSpPr>
          <p:cNvPr id="40" name="Google Shape;40;p2"/>
          <p:cNvSpPr/>
          <p:nvPr/>
        </p:nvSpPr>
        <p:spPr>
          <a:xfrm>
            <a:off x="8321040" y="2907792"/>
            <a:ext cx="3108960" cy="7315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6E73"/>
              </a:buClr>
              <a:buSzPts val="1100"/>
              <a:buFont typeface="JetBrains Mono"/>
              <a:buNone/>
            </a:pPr>
            <a:r>
              <a:rPr b="0" i="0" lang="en-US" sz="1100" u="none" cap="none" strike="noStrike">
                <a:solidFill>
                  <a:srgbClr val="6E6E73"/>
                </a:solidFill>
                <a:latin typeface="JetBrains Mono"/>
                <a:ea typeface="JetBrains Mono"/>
                <a:cs typeface="JetBrains Mono"/>
                <a:sym typeface="JetBrains Mono"/>
              </a:rPr>
              <a:t>0:35 – 2:20</a:t>
            </a:r>
            <a:endParaRPr b="0" i="0" sz="1100" u="none" cap="none" strike="noStrike">
              <a:solidFill>
                <a:schemeClr val="dk1"/>
              </a:solidFill>
              <a:latin typeface="Calibri"/>
              <a:ea typeface="Calibri"/>
              <a:cs typeface="Calibri"/>
              <a:sym typeface="Calibri"/>
            </a:endParaRPr>
          </a:p>
        </p:txBody>
      </p:sp>
      <p:sp>
        <p:nvSpPr>
          <p:cNvPr id="41" name="Google Shape;41;p2"/>
          <p:cNvSpPr/>
          <p:nvPr/>
        </p:nvSpPr>
        <p:spPr>
          <a:xfrm>
            <a:off x="548640" y="3758184"/>
            <a:ext cx="11091672" cy="731520"/>
          </a:xfrm>
          <a:prstGeom prst="roundRect">
            <a:avLst>
              <a:gd fmla="val 8750" name="adj"/>
            </a:avLst>
          </a:prstGeom>
          <a:solidFill>
            <a:srgbClr val="2A2A2C"/>
          </a:solidFill>
          <a:ln cap="flat" cmpd="sng" w="9525">
            <a:solidFill>
              <a:srgbClr val="3A3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777240" y="3895344"/>
            <a:ext cx="457200" cy="457200"/>
          </a:xfrm>
          <a:prstGeom prst="roundRect">
            <a:avLst>
              <a:gd fmla="val 10000" name="adj"/>
            </a:avLst>
          </a:prstGeom>
          <a:solidFill>
            <a:srgbClr val="161616"/>
          </a:solidFill>
          <a:ln cap="flat" cmpd="sng" w="9525">
            <a:solidFill>
              <a:srgbClr val="3A3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777240" y="3895344"/>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84FF"/>
              </a:buClr>
              <a:buSzPts val="1200"/>
              <a:buFont typeface="JetBrains Mono"/>
              <a:buNone/>
            </a:pPr>
            <a:r>
              <a:rPr b="1" i="0" lang="en-US" sz="1200" u="none" cap="none" strike="noStrike">
                <a:solidFill>
                  <a:srgbClr val="0A84FF"/>
                </a:solidFill>
                <a:latin typeface="JetBrains Mono"/>
                <a:ea typeface="JetBrains Mono"/>
                <a:cs typeface="JetBrains Mono"/>
                <a:sym typeface="JetBrains Mono"/>
              </a:rPr>
              <a:t>03</a:t>
            </a:r>
            <a:endParaRPr b="0" i="0" sz="1200" u="none" cap="none" strike="noStrike">
              <a:solidFill>
                <a:schemeClr val="dk1"/>
              </a:solidFill>
              <a:latin typeface="Calibri"/>
              <a:ea typeface="Calibri"/>
              <a:cs typeface="Calibri"/>
              <a:sym typeface="Calibri"/>
            </a:endParaRPr>
          </a:p>
        </p:txBody>
      </p:sp>
      <p:sp>
        <p:nvSpPr>
          <p:cNvPr id="44" name="Google Shape;44;p2"/>
          <p:cNvSpPr/>
          <p:nvPr/>
        </p:nvSpPr>
        <p:spPr>
          <a:xfrm>
            <a:off x="1508760" y="3867912"/>
            <a:ext cx="5943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F2F5"/>
              </a:buClr>
              <a:buSzPts val="1500"/>
              <a:buFont typeface="Instrument Sans"/>
              <a:buNone/>
            </a:pPr>
            <a:r>
              <a:rPr b="1" i="0" lang="en-US" sz="1500" u="none" cap="none" strike="noStrike">
                <a:solidFill>
                  <a:srgbClr val="F2F2F5"/>
                </a:solidFill>
                <a:latin typeface="Instrument Sans"/>
                <a:ea typeface="Instrument Sans"/>
                <a:cs typeface="Instrument Sans"/>
                <a:sym typeface="Instrument Sans"/>
              </a:rPr>
              <a:t>설계 결정</a:t>
            </a:r>
            <a:endParaRPr b="0" i="0" sz="1500" u="none" cap="none" strike="noStrike">
              <a:solidFill>
                <a:schemeClr val="dk1"/>
              </a:solidFill>
              <a:latin typeface="Calibri"/>
              <a:ea typeface="Calibri"/>
              <a:cs typeface="Calibri"/>
              <a:sym typeface="Calibri"/>
            </a:endParaRPr>
          </a:p>
        </p:txBody>
      </p:sp>
      <p:sp>
        <p:nvSpPr>
          <p:cNvPr id="45" name="Google Shape;45;p2"/>
          <p:cNvSpPr/>
          <p:nvPr/>
        </p:nvSpPr>
        <p:spPr>
          <a:xfrm>
            <a:off x="1508760" y="4187952"/>
            <a:ext cx="6858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8989D"/>
              </a:buClr>
              <a:buSzPts val="1050"/>
              <a:buFont typeface="Instrument Sans"/>
              <a:buNone/>
            </a:pPr>
            <a:r>
              <a:rPr b="0" i="0" lang="en-US" sz="1050" u="none" cap="none" strike="noStrike">
                <a:solidFill>
                  <a:srgbClr val="98989D"/>
                </a:solidFill>
                <a:latin typeface="Instrument Sans"/>
                <a:ea typeface="Instrument Sans"/>
                <a:cs typeface="Instrument Sans"/>
                <a:sym typeface="Instrument Sans"/>
              </a:rPr>
              <a:t>정해진 기간 안에 검증된 선택</a:t>
            </a:r>
            <a:endParaRPr b="0" i="0" sz="1050" u="none" cap="none" strike="noStrike">
              <a:solidFill>
                <a:schemeClr val="dk1"/>
              </a:solidFill>
              <a:latin typeface="Calibri"/>
              <a:ea typeface="Calibri"/>
              <a:cs typeface="Calibri"/>
              <a:sym typeface="Calibri"/>
            </a:endParaRPr>
          </a:p>
        </p:txBody>
      </p:sp>
      <p:sp>
        <p:nvSpPr>
          <p:cNvPr id="46" name="Google Shape;46;p2"/>
          <p:cNvSpPr/>
          <p:nvPr/>
        </p:nvSpPr>
        <p:spPr>
          <a:xfrm>
            <a:off x="8321040" y="3758184"/>
            <a:ext cx="3108960" cy="7315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6E73"/>
              </a:buClr>
              <a:buSzPts val="1100"/>
              <a:buFont typeface="JetBrains Mono"/>
              <a:buNone/>
            </a:pPr>
            <a:r>
              <a:rPr b="0" i="0" lang="en-US" sz="1100" u="none" cap="none" strike="noStrike">
                <a:solidFill>
                  <a:srgbClr val="6E6E73"/>
                </a:solidFill>
                <a:latin typeface="JetBrains Mono"/>
                <a:ea typeface="JetBrains Mono"/>
                <a:cs typeface="JetBrains Mono"/>
                <a:sym typeface="JetBrains Mono"/>
              </a:rPr>
              <a:t>2:20 – 2:55</a:t>
            </a:r>
            <a:endParaRPr b="0" i="0" sz="1100" u="none" cap="none" strike="noStrike">
              <a:solidFill>
                <a:schemeClr val="dk1"/>
              </a:solidFill>
              <a:latin typeface="Calibri"/>
              <a:ea typeface="Calibri"/>
              <a:cs typeface="Calibri"/>
              <a:sym typeface="Calibri"/>
            </a:endParaRPr>
          </a:p>
        </p:txBody>
      </p:sp>
      <p:sp>
        <p:nvSpPr>
          <p:cNvPr id="47" name="Google Shape;47;p2"/>
          <p:cNvSpPr/>
          <p:nvPr/>
        </p:nvSpPr>
        <p:spPr>
          <a:xfrm>
            <a:off x="548640" y="4608576"/>
            <a:ext cx="11091672" cy="731520"/>
          </a:xfrm>
          <a:prstGeom prst="roundRect">
            <a:avLst>
              <a:gd fmla="val 8750" name="adj"/>
            </a:avLst>
          </a:prstGeom>
          <a:solidFill>
            <a:srgbClr val="2A2A2C"/>
          </a:solidFill>
          <a:ln cap="flat" cmpd="sng" w="9525">
            <a:solidFill>
              <a:srgbClr val="3A3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777240" y="4745736"/>
            <a:ext cx="457200" cy="457200"/>
          </a:xfrm>
          <a:prstGeom prst="roundRect">
            <a:avLst>
              <a:gd fmla="val 10000" name="adj"/>
            </a:avLst>
          </a:prstGeom>
          <a:solidFill>
            <a:srgbClr val="161616"/>
          </a:solidFill>
          <a:ln cap="flat" cmpd="sng" w="9525">
            <a:solidFill>
              <a:srgbClr val="3A3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777240" y="4745736"/>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84FF"/>
              </a:buClr>
              <a:buSzPts val="1200"/>
              <a:buFont typeface="JetBrains Mono"/>
              <a:buNone/>
            </a:pPr>
            <a:r>
              <a:rPr b="1" i="0" lang="en-US" sz="1200" u="none" cap="none" strike="noStrike">
                <a:solidFill>
                  <a:srgbClr val="0A84FF"/>
                </a:solidFill>
                <a:latin typeface="JetBrains Mono"/>
                <a:ea typeface="JetBrains Mono"/>
                <a:cs typeface="JetBrains Mono"/>
                <a:sym typeface="JetBrains Mono"/>
              </a:rPr>
              <a:t>04</a:t>
            </a:r>
            <a:endParaRPr b="0" i="0" sz="1200" u="none" cap="none" strike="noStrike">
              <a:solidFill>
                <a:schemeClr val="dk1"/>
              </a:solidFill>
              <a:latin typeface="Calibri"/>
              <a:ea typeface="Calibri"/>
              <a:cs typeface="Calibri"/>
              <a:sym typeface="Calibri"/>
            </a:endParaRPr>
          </a:p>
        </p:txBody>
      </p:sp>
      <p:sp>
        <p:nvSpPr>
          <p:cNvPr id="50" name="Google Shape;50;p2"/>
          <p:cNvSpPr/>
          <p:nvPr/>
        </p:nvSpPr>
        <p:spPr>
          <a:xfrm>
            <a:off x="1508760" y="4718304"/>
            <a:ext cx="5943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F2F5"/>
              </a:buClr>
              <a:buSzPts val="1500"/>
              <a:buFont typeface="Instrument Sans"/>
              <a:buNone/>
            </a:pPr>
            <a:r>
              <a:rPr b="1" i="0" lang="en-US" sz="1500" u="none" cap="none" strike="noStrike">
                <a:solidFill>
                  <a:srgbClr val="F2F2F5"/>
                </a:solidFill>
                <a:latin typeface="Instrument Sans"/>
                <a:ea typeface="Instrument Sans"/>
                <a:cs typeface="Instrument Sans"/>
                <a:sym typeface="Instrument Sans"/>
              </a:rPr>
              <a:t>검증 결과</a:t>
            </a:r>
            <a:endParaRPr b="0" i="0" sz="1500" u="none" cap="none" strike="noStrike">
              <a:solidFill>
                <a:schemeClr val="dk1"/>
              </a:solidFill>
              <a:latin typeface="Calibri"/>
              <a:ea typeface="Calibri"/>
              <a:cs typeface="Calibri"/>
              <a:sym typeface="Calibri"/>
            </a:endParaRPr>
          </a:p>
        </p:txBody>
      </p:sp>
      <p:sp>
        <p:nvSpPr>
          <p:cNvPr id="51" name="Google Shape;51;p2"/>
          <p:cNvSpPr/>
          <p:nvPr/>
        </p:nvSpPr>
        <p:spPr>
          <a:xfrm>
            <a:off x="1508760" y="5038344"/>
            <a:ext cx="6858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8989D"/>
              </a:buClr>
              <a:buSzPts val="1050"/>
              <a:buFont typeface="Instrument Sans"/>
              <a:buNone/>
            </a:pPr>
            <a:r>
              <a:rPr b="0" i="0" lang="en-US" sz="1050" u="none" cap="none" strike="noStrike">
                <a:solidFill>
                  <a:srgbClr val="98989D"/>
                </a:solidFill>
                <a:latin typeface="Instrument Sans"/>
                <a:ea typeface="Instrument Sans"/>
                <a:cs typeface="Instrument Sans"/>
                <a:sym typeface="Instrument Sans"/>
              </a:rPr>
              <a:t>실측한 것과 개선 과제로 남긴 것</a:t>
            </a:r>
            <a:endParaRPr b="0" i="0" sz="1050" u="none" cap="none" strike="noStrike">
              <a:solidFill>
                <a:schemeClr val="dk1"/>
              </a:solidFill>
              <a:latin typeface="Calibri"/>
              <a:ea typeface="Calibri"/>
              <a:cs typeface="Calibri"/>
              <a:sym typeface="Calibri"/>
            </a:endParaRPr>
          </a:p>
        </p:txBody>
      </p:sp>
      <p:sp>
        <p:nvSpPr>
          <p:cNvPr id="52" name="Google Shape;52;p2"/>
          <p:cNvSpPr/>
          <p:nvPr/>
        </p:nvSpPr>
        <p:spPr>
          <a:xfrm>
            <a:off x="8321040" y="4608576"/>
            <a:ext cx="3108960" cy="7315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6E73"/>
              </a:buClr>
              <a:buSzPts val="1100"/>
              <a:buFont typeface="JetBrains Mono"/>
              <a:buNone/>
            </a:pPr>
            <a:r>
              <a:rPr b="0" i="0" lang="en-US" sz="1100" u="none" cap="none" strike="noStrike">
                <a:solidFill>
                  <a:srgbClr val="6E6E73"/>
                </a:solidFill>
                <a:latin typeface="JetBrains Mono"/>
                <a:ea typeface="JetBrains Mono"/>
                <a:cs typeface="JetBrains Mono"/>
                <a:sym typeface="JetBrains Mono"/>
              </a:rPr>
              <a:t>2:55 – 3:50</a:t>
            </a:r>
            <a:endParaRPr b="0" i="0" sz="1100" u="none" cap="none" strike="noStrike">
              <a:solidFill>
                <a:schemeClr val="dk1"/>
              </a:solidFill>
              <a:latin typeface="Calibri"/>
              <a:ea typeface="Calibri"/>
              <a:cs typeface="Calibri"/>
              <a:sym typeface="Calibri"/>
            </a:endParaRPr>
          </a:p>
        </p:txBody>
      </p:sp>
      <p:sp>
        <p:nvSpPr>
          <p:cNvPr id="53" name="Google Shape;53;p2"/>
          <p:cNvSpPr/>
          <p:nvPr/>
        </p:nvSpPr>
        <p:spPr>
          <a:xfrm>
            <a:off x="548640" y="5458968"/>
            <a:ext cx="11091672" cy="731520"/>
          </a:xfrm>
          <a:prstGeom prst="roundRect">
            <a:avLst>
              <a:gd fmla="val 8750" name="adj"/>
            </a:avLst>
          </a:prstGeom>
          <a:solidFill>
            <a:srgbClr val="2A2A2C"/>
          </a:solidFill>
          <a:ln cap="flat" cmpd="sng" w="9525">
            <a:solidFill>
              <a:srgbClr val="3A3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777240" y="5596128"/>
            <a:ext cx="457200" cy="457200"/>
          </a:xfrm>
          <a:prstGeom prst="roundRect">
            <a:avLst>
              <a:gd fmla="val 10000" name="adj"/>
            </a:avLst>
          </a:prstGeom>
          <a:solidFill>
            <a:srgbClr val="161616"/>
          </a:solidFill>
          <a:ln cap="flat" cmpd="sng" w="9525">
            <a:solidFill>
              <a:srgbClr val="3A3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777240" y="559612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84FF"/>
              </a:buClr>
              <a:buSzPts val="1200"/>
              <a:buFont typeface="JetBrains Mono"/>
              <a:buNone/>
            </a:pPr>
            <a:r>
              <a:rPr b="1" i="0" lang="en-US" sz="1200" u="none" cap="none" strike="noStrike">
                <a:solidFill>
                  <a:srgbClr val="0A84FF"/>
                </a:solidFill>
                <a:latin typeface="JetBrains Mono"/>
                <a:ea typeface="JetBrains Mono"/>
                <a:cs typeface="JetBrains Mono"/>
                <a:sym typeface="JetBrains Mono"/>
              </a:rPr>
              <a:t>05</a:t>
            </a:r>
            <a:endParaRPr b="0" i="0" sz="1200" u="none" cap="none" strike="noStrike">
              <a:solidFill>
                <a:schemeClr val="dk1"/>
              </a:solidFill>
              <a:latin typeface="Calibri"/>
              <a:ea typeface="Calibri"/>
              <a:cs typeface="Calibri"/>
              <a:sym typeface="Calibri"/>
            </a:endParaRPr>
          </a:p>
        </p:txBody>
      </p:sp>
      <p:sp>
        <p:nvSpPr>
          <p:cNvPr id="56" name="Google Shape;56;p2"/>
          <p:cNvSpPr/>
          <p:nvPr/>
        </p:nvSpPr>
        <p:spPr>
          <a:xfrm>
            <a:off x="1508760" y="5568696"/>
            <a:ext cx="5943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F2F5"/>
              </a:buClr>
              <a:buSzPts val="1500"/>
              <a:buFont typeface="Instrument Sans"/>
              <a:buNone/>
            </a:pPr>
            <a:r>
              <a:rPr b="1" i="0" lang="en-US" sz="1500" u="none" cap="none" strike="noStrike">
                <a:solidFill>
                  <a:srgbClr val="F2F2F5"/>
                </a:solidFill>
                <a:latin typeface="Instrument Sans"/>
                <a:ea typeface="Instrument Sans"/>
                <a:cs typeface="Instrument Sans"/>
                <a:sym typeface="Instrument Sans"/>
              </a:rPr>
              <a:t>한계 + 마무리</a:t>
            </a:r>
            <a:endParaRPr b="0" i="0" sz="1500" u="none" cap="none" strike="noStrike">
              <a:solidFill>
                <a:schemeClr val="dk1"/>
              </a:solidFill>
              <a:latin typeface="Calibri"/>
              <a:ea typeface="Calibri"/>
              <a:cs typeface="Calibri"/>
              <a:sym typeface="Calibri"/>
            </a:endParaRPr>
          </a:p>
        </p:txBody>
      </p:sp>
      <p:sp>
        <p:nvSpPr>
          <p:cNvPr id="57" name="Google Shape;57;p2"/>
          <p:cNvSpPr/>
          <p:nvPr/>
        </p:nvSpPr>
        <p:spPr>
          <a:xfrm>
            <a:off x="1508760" y="5888736"/>
            <a:ext cx="6858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8989D"/>
              </a:buClr>
              <a:buSzPts val="1050"/>
              <a:buFont typeface="Instrument Sans"/>
              <a:buNone/>
            </a:pPr>
            <a:r>
              <a:rPr b="0" i="0" lang="en-US" sz="1050" u="none" cap="none" strike="noStrike">
                <a:solidFill>
                  <a:srgbClr val="98989D"/>
                </a:solidFill>
                <a:latin typeface="Instrument Sans"/>
                <a:ea typeface="Instrument Sans"/>
                <a:cs typeface="Instrument Sans"/>
                <a:sym typeface="Instrument Sans"/>
              </a:rPr>
              <a:t>핵심 루프 구현과 이 프로젝트의 차별점</a:t>
            </a:r>
            <a:endParaRPr b="0" i="0" sz="1050" u="none" cap="none" strike="noStrike">
              <a:solidFill>
                <a:schemeClr val="dk1"/>
              </a:solidFill>
              <a:latin typeface="Calibri"/>
              <a:ea typeface="Calibri"/>
              <a:cs typeface="Calibri"/>
              <a:sym typeface="Calibri"/>
            </a:endParaRPr>
          </a:p>
        </p:txBody>
      </p:sp>
      <p:sp>
        <p:nvSpPr>
          <p:cNvPr id="58" name="Google Shape;58;p2"/>
          <p:cNvSpPr/>
          <p:nvPr/>
        </p:nvSpPr>
        <p:spPr>
          <a:xfrm>
            <a:off x="8321040" y="5458968"/>
            <a:ext cx="3108960" cy="7315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6E73"/>
              </a:buClr>
              <a:buSzPts val="1100"/>
              <a:buFont typeface="JetBrains Mono"/>
              <a:buNone/>
            </a:pPr>
            <a:r>
              <a:rPr b="0" i="0" lang="en-US" sz="1100" u="none" cap="none" strike="noStrike">
                <a:solidFill>
                  <a:srgbClr val="6E6E73"/>
                </a:solidFill>
                <a:latin typeface="JetBrains Mono"/>
                <a:ea typeface="JetBrains Mono"/>
                <a:cs typeface="JetBrains Mono"/>
                <a:sym typeface="JetBrains Mono"/>
              </a:rPr>
              <a:t>3:50 – 4:35</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63" name="Shape 63"/>
        <p:cNvGrpSpPr/>
        <p:nvPr/>
      </p:nvGrpSpPr>
      <p:grpSpPr>
        <a:xfrm>
          <a:off x="0" y="0"/>
          <a:ext cx="0" cy="0"/>
          <a:chOff x="0" y="0"/>
          <a:chExt cx="0" cy="0"/>
        </a:xfrm>
      </p:grpSpPr>
      <p:sp>
        <p:nvSpPr>
          <p:cNvPr id="64" name="Google Shape;64;p3"/>
          <p:cNvSpPr/>
          <p:nvPr/>
        </p:nvSpPr>
        <p:spPr>
          <a:xfrm>
            <a:off x="548640" y="41148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E73"/>
              </a:buClr>
              <a:buSzPts val="1100"/>
              <a:buFont typeface="JetBrains Mono"/>
              <a:buNone/>
            </a:pPr>
            <a:r>
              <a:rPr b="0" i="0" lang="en-US" sz="1100" u="none" cap="none" strike="noStrike">
                <a:solidFill>
                  <a:srgbClr val="6E6E73"/>
                </a:solidFill>
                <a:latin typeface="JetBrains Mono"/>
                <a:ea typeface="JetBrains Mono"/>
                <a:cs typeface="JetBrains Mono"/>
                <a:sym typeface="JetBrains Mono"/>
              </a:rPr>
              <a:t># S1 · PROBLEM &amp; HYPOTHESIS</a:t>
            </a:r>
            <a:endParaRPr b="0" i="0" sz="1100" u="none" cap="none" strike="noStrike">
              <a:solidFill>
                <a:schemeClr val="dk1"/>
              </a:solidFill>
              <a:latin typeface="Calibri"/>
              <a:ea typeface="Calibri"/>
              <a:cs typeface="Calibri"/>
              <a:sym typeface="Calibri"/>
            </a:endParaRPr>
          </a:p>
        </p:txBody>
      </p:sp>
      <p:sp>
        <p:nvSpPr>
          <p:cNvPr id="65" name="Google Shape;65;p3"/>
          <p:cNvSpPr/>
          <p:nvPr/>
        </p:nvSpPr>
        <p:spPr>
          <a:xfrm>
            <a:off x="7068312" y="411480"/>
            <a:ext cx="45720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6E73"/>
              </a:buClr>
              <a:buSzPts val="1100"/>
              <a:buFont typeface="JetBrains Mono"/>
              <a:buNone/>
            </a:pPr>
            <a:r>
              <a:rPr b="0" i="0" lang="en-US" sz="1100" u="none" cap="none" strike="noStrike">
                <a:solidFill>
                  <a:srgbClr val="6E6E73"/>
                </a:solidFill>
                <a:latin typeface="JetBrains Mono"/>
                <a:ea typeface="JetBrains Mono"/>
                <a:cs typeface="JetBrains Mono"/>
                <a:sym typeface="JetBrains Mono"/>
              </a:rPr>
              <a:t>0:00 – 0:35</a:t>
            </a:r>
            <a:endParaRPr b="0" i="0" sz="1100" u="none" cap="none" strike="noStrike">
              <a:solidFill>
                <a:schemeClr val="dk1"/>
              </a:solidFill>
              <a:latin typeface="Calibri"/>
              <a:ea typeface="Calibri"/>
              <a:cs typeface="Calibri"/>
              <a:sym typeface="Calibri"/>
            </a:endParaRPr>
          </a:p>
        </p:txBody>
      </p:sp>
      <p:sp>
        <p:nvSpPr>
          <p:cNvPr id="66" name="Google Shape;66;p3"/>
          <p:cNvSpPr/>
          <p:nvPr/>
        </p:nvSpPr>
        <p:spPr>
          <a:xfrm>
            <a:off x="548640" y="731520"/>
            <a:ext cx="1109167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F2F5"/>
              </a:buClr>
              <a:buSzPts val="2700"/>
              <a:buFont typeface="Fraunces"/>
              <a:buNone/>
            </a:pPr>
            <a:r>
              <a:rPr i="1" lang="en-US" sz="2700">
                <a:solidFill>
                  <a:srgbClr val="F2F2F5"/>
                </a:solidFill>
                <a:latin typeface="Fraunces"/>
                <a:ea typeface="Fraunces"/>
                <a:cs typeface="Fraunces"/>
                <a:sym typeface="Fraunces"/>
              </a:rPr>
              <a:t>문제 정의 “개념은 배웠는데, 손은 안 움직였다”</a:t>
            </a:r>
            <a:endParaRPr b="0" i="0" sz="2700" u="none" cap="none" strike="noStrike">
              <a:solidFill>
                <a:schemeClr val="dk1"/>
              </a:solidFill>
              <a:latin typeface="Calibri"/>
              <a:ea typeface="Calibri"/>
              <a:cs typeface="Calibri"/>
              <a:sym typeface="Calibri"/>
            </a:endParaRPr>
          </a:p>
        </p:txBody>
      </p:sp>
      <p:sp>
        <p:nvSpPr>
          <p:cNvPr id="67" name="Google Shape;67;p3"/>
          <p:cNvSpPr/>
          <p:nvPr/>
        </p:nvSpPr>
        <p:spPr>
          <a:xfrm>
            <a:off x="548640" y="1874520"/>
            <a:ext cx="27432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84FF"/>
              </a:buClr>
              <a:buSzPts val="3600"/>
              <a:buFont typeface="Instrument Sans"/>
              <a:buNone/>
            </a:pPr>
            <a:r>
              <a:rPr b="1" i="0" lang="en-US" sz="3600" u="none" cap="none" strike="noStrike">
                <a:solidFill>
                  <a:srgbClr val="0A84FF"/>
                </a:solidFill>
                <a:latin typeface="Instrument Sans"/>
                <a:ea typeface="Instrument Sans"/>
                <a:cs typeface="Instrument Sans"/>
                <a:sym typeface="Instrument Sans"/>
              </a:rPr>
              <a:t>2 / </a:t>
            </a:r>
            <a:r>
              <a:rPr b="1" lang="en-US" sz="3600">
                <a:solidFill>
                  <a:srgbClr val="0A84FF"/>
                </a:solidFill>
                <a:latin typeface="Instrument Sans"/>
                <a:ea typeface="Instrument Sans"/>
                <a:cs typeface="Instrument Sans"/>
                <a:sym typeface="Instrument Sans"/>
              </a:rPr>
              <a:t>5명</a:t>
            </a:r>
            <a:endParaRPr b="0" i="0" sz="3600" u="none" cap="none" strike="noStrike">
              <a:solidFill>
                <a:schemeClr val="dk1"/>
              </a:solidFill>
              <a:latin typeface="Calibri"/>
              <a:ea typeface="Calibri"/>
              <a:cs typeface="Calibri"/>
              <a:sym typeface="Calibri"/>
            </a:endParaRPr>
          </a:p>
        </p:txBody>
      </p:sp>
      <p:sp>
        <p:nvSpPr>
          <p:cNvPr id="68" name="Google Shape;68;p3"/>
          <p:cNvSpPr/>
          <p:nvPr/>
        </p:nvSpPr>
        <p:spPr>
          <a:xfrm>
            <a:off x="548640" y="260604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8989D"/>
              </a:buClr>
              <a:buSzPts val="1100"/>
              <a:buFont typeface="Instrument Sans"/>
              <a:buNone/>
            </a:pPr>
            <a:r>
              <a:rPr b="0" i="0" lang="en-US" sz="1100" u="none" cap="none" strike="noStrike">
                <a:solidFill>
                  <a:srgbClr val="98989D"/>
                </a:solidFill>
                <a:latin typeface="Instrument Sans"/>
                <a:ea typeface="Instrument Sans"/>
                <a:cs typeface="Instrument Sans"/>
                <a:sym typeface="Instrument Sans"/>
              </a:rPr>
              <a:t>멘토링 중 시도한 학습자 수</a:t>
            </a:r>
            <a:endParaRPr b="0" i="0" sz="1100" u="none" cap="none" strike="noStrike">
              <a:solidFill>
                <a:schemeClr val="dk1"/>
              </a:solidFill>
              <a:latin typeface="Calibri"/>
              <a:ea typeface="Calibri"/>
              <a:cs typeface="Calibri"/>
              <a:sym typeface="Calibri"/>
            </a:endParaRPr>
          </a:p>
        </p:txBody>
      </p:sp>
      <p:sp>
        <p:nvSpPr>
          <p:cNvPr id="69" name="Google Shape;69;p3"/>
          <p:cNvSpPr/>
          <p:nvPr/>
        </p:nvSpPr>
        <p:spPr>
          <a:xfrm>
            <a:off x="3474720" y="1874520"/>
            <a:ext cx="27432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84FF"/>
              </a:buClr>
              <a:buSzPts val="3600"/>
              <a:buFont typeface="Instrument Sans"/>
              <a:buNone/>
            </a:pPr>
            <a:r>
              <a:rPr b="1" i="0" lang="en-US" sz="3600" u="none" cap="none" strike="noStrike">
                <a:solidFill>
                  <a:srgbClr val="0A84FF"/>
                </a:solidFill>
                <a:latin typeface="Instrument Sans"/>
                <a:ea typeface="Instrument Sans"/>
                <a:cs typeface="Instrument Sans"/>
                <a:sym typeface="Instrument Sans"/>
              </a:rPr>
              <a:t>2주</a:t>
            </a:r>
            <a:endParaRPr b="0" i="0" sz="3600" u="none" cap="none" strike="noStrike">
              <a:solidFill>
                <a:schemeClr val="dk1"/>
              </a:solidFill>
              <a:latin typeface="Calibri"/>
              <a:ea typeface="Calibri"/>
              <a:cs typeface="Calibri"/>
              <a:sym typeface="Calibri"/>
            </a:endParaRPr>
          </a:p>
        </p:txBody>
      </p:sp>
      <p:sp>
        <p:nvSpPr>
          <p:cNvPr id="70" name="Google Shape;70;p3"/>
          <p:cNvSpPr/>
          <p:nvPr/>
        </p:nvSpPr>
        <p:spPr>
          <a:xfrm>
            <a:off x="3474720" y="260604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8989D"/>
              </a:buClr>
              <a:buSzPts val="1100"/>
              <a:buFont typeface="Instrument Sans"/>
              <a:buNone/>
            </a:pPr>
            <a:r>
              <a:rPr b="0" i="0" lang="en-US" sz="1100" u="none" cap="none" strike="noStrike">
                <a:solidFill>
                  <a:srgbClr val="98989D"/>
                </a:solidFill>
                <a:latin typeface="Instrument Sans"/>
                <a:ea typeface="Instrument Sans"/>
                <a:cs typeface="Instrument Sans"/>
                <a:sym typeface="Instrument Sans"/>
              </a:rPr>
              <a:t>내 이탈 (그마저도)</a:t>
            </a:r>
            <a:endParaRPr b="0" i="0" sz="1100" u="none" cap="none" strike="noStrike">
              <a:solidFill>
                <a:schemeClr val="dk1"/>
              </a:solidFill>
              <a:latin typeface="Calibri"/>
              <a:ea typeface="Calibri"/>
              <a:cs typeface="Calibri"/>
              <a:sym typeface="Calibri"/>
            </a:endParaRPr>
          </a:p>
        </p:txBody>
      </p:sp>
      <p:sp>
        <p:nvSpPr>
          <p:cNvPr id="71" name="Google Shape;71;p3"/>
          <p:cNvSpPr/>
          <p:nvPr/>
        </p:nvSpPr>
        <p:spPr>
          <a:xfrm>
            <a:off x="548640" y="2880360"/>
            <a:ext cx="5760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8989D"/>
              </a:buClr>
              <a:buSzPts val="1300"/>
              <a:buFont typeface="Instrument Sans"/>
              <a:buNone/>
            </a:pPr>
            <a:r>
              <a:rPr b="0" i="0" lang="en-US" sz="1300" u="none" cap="none" strike="noStrike">
                <a:solidFill>
                  <a:srgbClr val="98989D"/>
                </a:solidFill>
                <a:latin typeface="Instrument Sans"/>
                <a:ea typeface="Instrument Sans"/>
                <a:cs typeface="Instrument Sans"/>
                <a:sym typeface="Instrument Sans"/>
              </a:rPr>
              <a:t>이유를 들어보니 </a:t>
            </a:r>
            <a:r>
              <a:rPr lang="en-US" sz="1300">
                <a:solidFill>
                  <a:srgbClr val="98989D"/>
                </a:solidFill>
                <a:latin typeface="Instrument Sans"/>
                <a:ea typeface="Instrument Sans"/>
                <a:cs typeface="Instrument Sans"/>
                <a:sym typeface="Instrument Sans"/>
              </a:rPr>
              <a:t>- </a:t>
            </a:r>
            <a:r>
              <a:rPr b="0" i="0" lang="en-US" sz="1300" u="none" cap="none" strike="noStrike">
                <a:solidFill>
                  <a:srgbClr val="98989D"/>
                </a:solidFill>
                <a:latin typeface="Instrument Sans"/>
                <a:ea typeface="Instrument Sans"/>
                <a:cs typeface="Instrument Sans"/>
                <a:sym typeface="Instrument Sans"/>
              </a:rPr>
              <a:t> 프롬프트 </a:t>
            </a:r>
            <a:r>
              <a:rPr lang="en-US" sz="1300">
                <a:solidFill>
                  <a:srgbClr val="98989D"/>
                </a:solidFill>
                <a:latin typeface="Instrument Sans"/>
                <a:ea typeface="Instrument Sans"/>
                <a:cs typeface="Instrument Sans"/>
                <a:sym typeface="Instrument Sans"/>
              </a:rPr>
              <a:t>작성 장</a:t>
            </a:r>
            <a:r>
              <a:rPr b="0" i="0" lang="en-US" sz="1300" u="none" cap="none" strike="noStrike">
                <a:solidFill>
                  <a:srgbClr val="98989D"/>
                </a:solidFill>
                <a:latin typeface="Instrument Sans"/>
                <a:ea typeface="Instrument Sans"/>
                <a:cs typeface="Instrument Sans"/>
                <a:sym typeface="Instrument Sans"/>
              </a:rPr>
              <a:t>벽 + </a:t>
            </a:r>
            <a:r>
              <a:rPr lang="en-US" sz="1300">
                <a:solidFill>
                  <a:srgbClr val="98989D"/>
                </a:solidFill>
                <a:latin typeface="Instrument Sans"/>
                <a:ea typeface="Instrument Sans"/>
                <a:cs typeface="Instrument Sans"/>
                <a:sym typeface="Instrument Sans"/>
              </a:rPr>
              <a:t>실습 환경 </a:t>
            </a:r>
            <a:r>
              <a:rPr b="0" i="0" lang="en-US" sz="1300" u="none" cap="none" strike="noStrike">
                <a:solidFill>
                  <a:srgbClr val="98989D"/>
                </a:solidFill>
                <a:latin typeface="Instrument Sans"/>
                <a:ea typeface="Instrument Sans"/>
                <a:cs typeface="Instrument Sans"/>
                <a:sym typeface="Instrument Sans"/>
              </a:rPr>
              <a:t>전환 비용</a:t>
            </a:r>
            <a:endParaRPr b="0" i="0" sz="1300" u="none" cap="none" strike="noStrike">
              <a:solidFill>
                <a:schemeClr val="dk1"/>
              </a:solidFill>
              <a:latin typeface="Calibri"/>
              <a:ea typeface="Calibri"/>
              <a:cs typeface="Calibri"/>
              <a:sym typeface="Calibri"/>
            </a:endParaRPr>
          </a:p>
        </p:txBody>
      </p:sp>
      <p:sp>
        <p:nvSpPr>
          <p:cNvPr id="72" name="Google Shape;72;p3"/>
          <p:cNvSpPr/>
          <p:nvPr/>
        </p:nvSpPr>
        <p:spPr>
          <a:xfrm>
            <a:off x="548640" y="3383280"/>
            <a:ext cx="5760720" cy="1234440"/>
          </a:xfrm>
          <a:prstGeom prst="roundRect">
            <a:avLst>
              <a:gd fmla="val 5926" name="adj"/>
            </a:avLst>
          </a:prstGeom>
          <a:solidFill>
            <a:srgbClr val="1B2A3F"/>
          </a:solidFill>
          <a:ln cap="flat" cmpd="sng" w="9525">
            <a:solidFill>
              <a:srgbClr val="0A8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77240" y="3520440"/>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84FF"/>
              </a:buClr>
              <a:buSzPts val="1050"/>
              <a:buFont typeface="JetBrains Mono"/>
              <a:buNone/>
            </a:pPr>
            <a:r>
              <a:rPr lang="en-US" sz="1050">
                <a:solidFill>
                  <a:srgbClr val="0A84FF"/>
                </a:solidFill>
                <a:latin typeface="JetBrains Mono"/>
                <a:ea typeface="JetBrains Mono"/>
                <a:cs typeface="JetBrains Mono"/>
                <a:sym typeface="JetBrains Mono"/>
              </a:rPr>
              <a:t>솔루션</a:t>
            </a:r>
            <a:endParaRPr b="0" i="0" sz="1050" u="none" cap="none" strike="noStrike">
              <a:solidFill>
                <a:schemeClr val="dk1"/>
              </a:solidFill>
              <a:latin typeface="Calibri"/>
              <a:ea typeface="Calibri"/>
              <a:cs typeface="Calibri"/>
              <a:sym typeface="Calibri"/>
            </a:endParaRPr>
          </a:p>
        </p:txBody>
      </p:sp>
      <p:sp>
        <p:nvSpPr>
          <p:cNvPr id="74" name="Google Shape;74;p3"/>
          <p:cNvSpPr/>
          <p:nvPr/>
        </p:nvSpPr>
        <p:spPr>
          <a:xfrm>
            <a:off x="777240" y="3794760"/>
            <a:ext cx="53035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F2F5"/>
              </a:buClr>
              <a:buSzPts val="1500"/>
              <a:buFont typeface="Instrument Sans"/>
              <a:buNone/>
            </a:pPr>
            <a:r>
              <a:rPr b="1" i="0" lang="en-US" sz="1500" u="none" cap="none" strike="noStrike">
                <a:solidFill>
                  <a:srgbClr val="F2F2F5"/>
                </a:solidFill>
                <a:latin typeface="Instrument Sans"/>
                <a:ea typeface="Instrument Sans"/>
                <a:cs typeface="Instrument Sans"/>
                <a:sym typeface="Instrument Sans"/>
              </a:rPr>
              <a:t>구조화된 선택 UI + 같은 화면 실행</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2F2F5"/>
              </a:buClr>
              <a:buSzPts val="1500"/>
              <a:buFont typeface="Instrument Sans"/>
              <a:buNone/>
            </a:pPr>
            <a:r>
              <a:rPr b="1" i="0" lang="en-US" sz="1500" u="none" cap="none" strike="noStrike">
                <a:solidFill>
                  <a:srgbClr val="F2F2F5"/>
                </a:solidFill>
                <a:latin typeface="Instrument Sans"/>
                <a:ea typeface="Instrument Sans"/>
                <a:cs typeface="Instrument Sans"/>
                <a:sym typeface="Instrument Sans"/>
              </a:rPr>
              <a:t>→ 전환을 더 쉽게 지속</a:t>
            </a:r>
            <a:endParaRPr b="0" i="0" sz="1500" u="none" cap="none" strike="noStrike">
              <a:solidFill>
                <a:schemeClr val="dk1"/>
              </a:solidFill>
              <a:latin typeface="Calibri"/>
              <a:ea typeface="Calibri"/>
              <a:cs typeface="Calibri"/>
              <a:sym typeface="Calibri"/>
            </a:endParaRPr>
          </a:p>
        </p:txBody>
      </p:sp>
      <p:pic>
        <p:nvPicPr>
          <p:cNvPr descr="C:/Users/user/Documents/workspace/first-project/docs/assets/s1-guide-notion.png" id="75" name="Google Shape;75;p3"/>
          <p:cNvPicPr preferRelativeResize="0"/>
          <p:nvPr/>
        </p:nvPicPr>
        <p:blipFill rotWithShape="1">
          <a:blip r:embed="rId3">
            <a:alphaModFix/>
          </a:blip>
          <a:srcRect b="0" l="0" r="0" t="0"/>
          <a:stretch/>
        </p:blipFill>
        <p:spPr>
          <a:xfrm>
            <a:off x="6595975" y="1625612"/>
            <a:ext cx="4063975" cy="4063974"/>
          </a:xfrm>
          <a:prstGeom prst="rect">
            <a:avLst/>
          </a:prstGeom>
          <a:noFill/>
          <a:ln>
            <a:noFill/>
          </a:ln>
        </p:spPr>
      </p:pic>
      <p:sp>
        <p:nvSpPr>
          <p:cNvPr id="76" name="Google Shape;76;p3"/>
          <p:cNvSpPr/>
          <p:nvPr/>
        </p:nvSpPr>
        <p:spPr>
          <a:xfrm>
            <a:off x="6595975" y="5689643"/>
            <a:ext cx="23316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8989D"/>
              </a:buClr>
              <a:buSzPts val="900"/>
              <a:buFont typeface="Instrument Sans"/>
              <a:buNone/>
            </a:pPr>
            <a:r>
              <a:rPr b="0" i="0" lang="en-US" sz="900" u="none" cap="none" strike="noStrike">
                <a:solidFill>
                  <a:srgbClr val="98989D"/>
                </a:solidFill>
                <a:latin typeface="Instrument Sans"/>
                <a:ea typeface="Instrument Sans"/>
                <a:cs typeface="Instrument Sans"/>
                <a:sym typeface="Instrument Sans"/>
              </a:rPr>
              <a:t>학습법 가이드 프롬프트 템플릿</a:t>
            </a:r>
            <a:endParaRPr b="0" i="0" sz="900" u="none" cap="none" strike="noStrike">
              <a:solidFill>
                <a:schemeClr val="dk1"/>
              </a:solidFill>
              <a:latin typeface="Calibri"/>
              <a:ea typeface="Calibri"/>
              <a:cs typeface="Calibri"/>
              <a:sym typeface="Calibri"/>
            </a:endParaRPr>
          </a:p>
        </p:txBody>
      </p:sp>
      <p:pic>
        <p:nvPicPr>
          <p:cNvPr descr="C:/Users/user/Documents/workspace/first-project/docs/assets/s1-gemini-gems.png" id="77" name="Google Shape;77;p3"/>
          <p:cNvPicPr preferRelativeResize="0"/>
          <p:nvPr/>
        </p:nvPicPr>
        <p:blipFill rotWithShape="1">
          <a:blip r:embed="rId4">
            <a:alphaModFix/>
          </a:blip>
          <a:srcRect b="0" l="0" r="0" t="0"/>
          <a:stretch/>
        </p:blipFill>
        <p:spPr>
          <a:xfrm>
            <a:off x="9391320" y="2792398"/>
            <a:ext cx="3671776" cy="3017550"/>
          </a:xfrm>
          <a:prstGeom prst="rect">
            <a:avLst/>
          </a:prstGeom>
          <a:noFill/>
          <a:ln>
            <a:noFill/>
          </a:ln>
        </p:spPr>
      </p:pic>
      <p:sp>
        <p:nvSpPr>
          <p:cNvPr id="78" name="Google Shape;78;p3"/>
          <p:cNvSpPr/>
          <p:nvPr/>
        </p:nvSpPr>
        <p:spPr>
          <a:xfrm>
            <a:off x="9576887" y="5712442"/>
            <a:ext cx="2514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8989D"/>
              </a:buClr>
              <a:buSzPts val="900"/>
              <a:buFont typeface="Instrument Sans"/>
              <a:buNone/>
            </a:pPr>
            <a:r>
              <a:rPr b="0" i="0" lang="en-US" sz="900" u="none" cap="none" strike="noStrike">
                <a:solidFill>
                  <a:srgbClr val="98989D"/>
                </a:solidFill>
                <a:latin typeface="Instrument Sans"/>
                <a:ea typeface="Instrument Sans"/>
                <a:cs typeface="Instrument Sans"/>
                <a:sym typeface="Instrument Sans"/>
              </a:rPr>
              <a:t>Gemini Gems로 만든 "개발 튜터"</a:t>
            </a:r>
            <a:endParaRPr b="0" i="0" sz="900" u="none" cap="none" strike="noStrike">
              <a:solidFill>
                <a:schemeClr val="dk1"/>
              </a:solidFill>
              <a:latin typeface="Calibri"/>
              <a:ea typeface="Calibri"/>
              <a:cs typeface="Calibri"/>
              <a:sym typeface="Calibri"/>
            </a:endParaRPr>
          </a:p>
        </p:txBody>
      </p:sp>
      <p:sp>
        <p:nvSpPr>
          <p:cNvPr id="79" name="Google Shape;79;p3"/>
          <p:cNvSpPr/>
          <p:nvPr/>
        </p:nvSpPr>
        <p:spPr>
          <a:xfrm>
            <a:off x="548640" y="6446520"/>
            <a:ext cx="11091672"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6E73"/>
              </a:buClr>
              <a:buSzPts val="950"/>
              <a:buFont typeface="JetBrains Mono"/>
              <a:buNone/>
            </a:pPr>
            <a:r>
              <a:rPr b="0" i="0" lang="en-US" sz="950" u="none" cap="none" strike="noStrike">
                <a:solidFill>
                  <a:srgbClr val="6E6E73"/>
                </a:solidFill>
                <a:latin typeface="JetBrains Mono"/>
                <a:ea typeface="JetBrains Mono"/>
                <a:cs typeface="JetBrains Mono"/>
                <a:sym typeface="JetBrains Mono"/>
              </a:rPr>
              <a:t>학습자는 개념은 알지만 실습 적용에서 막힌다</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84" name="Shape 84"/>
        <p:cNvGrpSpPr/>
        <p:nvPr/>
      </p:nvGrpSpPr>
      <p:grpSpPr>
        <a:xfrm>
          <a:off x="0" y="0"/>
          <a:ext cx="0" cy="0"/>
          <a:chOff x="0" y="0"/>
          <a:chExt cx="0" cy="0"/>
        </a:xfrm>
      </p:grpSpPr>
      <p:sp>
        <p:nvSpPr>
          <p:cNvPr id="85" name="Google Shape;85;p4"/>
          <p:cNvSpPr/>
          <p:nvPr/>
        </p:nvSpPr>
        <p:spPr>
          <a:xfrm>
            <a:off x="429500" y="1854875"/>
            <a:ext cx="4745700" cy="1566300"/>
          </a:xfrm>
          <a:prstGeom prst="roundRect">
            <a:avLst>
              <a:gd fmla="val 4000" name="adj"/>
            </a:avLst>
          </a:prstGeom>
          <a:solidFill>
            <a:srgbClr val="6E6E73"/>
          </a:solidFill>
          <a:ln cap="flat" cmpd="sng" w="9525">
            <a:solidFill>
              <a:srgbClr val="3A3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4"/>
          <p:cNvSpPr/>
          <p:nvPr/>
        </p:nvSpPr>
        <p:spPr>
          <a:xfrm>
            <a:off x="548640" y="41148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E73"/>
              </a:buClr>
              <a:buSzPts val="1100"/>
              <a:buFont typeface="JetBrains Mono"/>
              <a:buNone/>
            </a:pPr>
            <a:r>
              <a:rPr b="0" i="0" lang="en-US" sz="1100" u="none" cap="none" strike="noStrike">
                <a:solidFill>
                  <a:srgbClr val="6E6E73"/>
                </a:solidFill>
                <a:latin typeface="JetBrains Mono"/>
                <a:ea typeface="JetBrains Mono"/>
                <a:cs typeface="JetBrains Mono"/>
                <a:sym typeface="JetBrains Mono"/>
              </a:rPr>
              <a:t># S2 · LIVE DEMO — 7 STEPS</a:t>
            </a:r>
            <a:endParaRPr b="0" i="0" sz="1100" u="none" cap="none" strike="noStrike">
              <a:solidFill>
                <a:schemeClr val="dk1"/>
              </a:solidFill>
              <a:latin typeface="Calibri"/>
              <a:ea typeface="Calibri"/>
              <a:cs typeface="Calibri"/>
              <a:sym typeface="Calibri"/>
            </a:endParaRPr>
          </a:p>
        </p:txBody>
      </p:sp>
      <p:sp>
        <p:nvSpPr>
          <p:cNvPr id="87" name="Google Shape;87;p4"/>
          <p:cNvSpPr/>
          <p:nvPr/>
        </p:nvSpPr>
        <p:spPr>
          <a:xfrm>
            <a:off x="7068312" y="411480"/>
            <a:ext cx="45720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6E73"/>
              </a:buClr>
              <a:buSzPts val="1100"/>
              <a:buFont typeface="JetBrains Mono"/>
              <a:buNone/>
            </a:pPr>
            <a:r>
              <a:rPr b="0" i="0" lang="en-US" sz="1100" u="none" cap="none" strike="noStrike">
                <a:solidFill>
                  <a:srgbClr val="6E6E73"/>
                </a:solidFill>
                <a:latin typeface="JetBrains Mono"/>
                <a:ea typeface="JetBrains Mono"/>
                <a:cs typeface="JetBrains Mono"/>
                <a:sym typeface="JetBrains Mono"/>
              </a:rPr>
              <a:t>0:35 – 2:20</a:t>
            </a:r>
            <a:endParaRPr b="0" i="0" sz="1100" u="none" cap="none" strike="noStrike">
              <a:solidFill>
                <a:schemeClr val="dk1"/>
              </a:solidFill>
              <a:latin typeface="Calibri"/>
              <a:ea typeface="Calibri"/>
              <a:cs typeface="Calibri"/>
              <a:sym typeface="Calibri"/>
            </a:endParaRPr>
          </a:p>
        </p:txBody>
      </p:sp>
      <p:sp>
        <p:nvSpPr>
          <p:cNvPr id="88" name="Google Shape;88;p4"/>
          <p:cNvSpPr/>
          <p:nvPr/>
        </p:nvSpPr>
        <p:spPr>
          <a:xfrm>
            <a:off x="548640" y="731520"/>
            <a:ext cx="1109167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F2F5"/>
              </a:buClr>
              <a:buSzPts val="2700"/>
              <a:buFont typeface="Fraunces"/>
              <a:buNone/>
            </a:pPr>
            <a:r>
              <a:rPr b="0" i="1" lang="en-US" sz="2700" u="none" cap="none" strike="noStrike">
                <a:solidFill>
                  <a:srgbClr val="F2F2F5"/>
                </a:solidFill>
                <a:latin typeface="Fraunces"/>
                <a:ea typeface="Fraunces"/>
                <a:cs typeface="Fraunces"/>
                <a:sym typeface="Fraunces"/>
              </a:rPr>
              <a:t>같은 화면에서, 생성부터 실행·피드백까지</a:t>
            </a:r>
            <a:endParaRPr b="0" i="0" sz="2700" u="none" cap="none" strike="noStrike">
              <a:solidFill>
                <a:schemeClr val="dk1"/>
              </a:solidFill>
              <a:latin typeface="Calibri"/>
              <a:ea typeface="Calibri"/>
              <a:cs typeface="Calibri"/>
              <a:sym typeface="Calibri"/>
            </a:endParaRPr>
          </a:p>
        </p:txBody>
      </p:sp>
      <p:sp>
        <p:nvSpPr>
          <p:cNvPr id="89" name="Google Shape;89;p4"/>
          <p:cNvSpPr/>
          <p:nvPr/>
        </p:nvSpPr>
        <p:spPr>
          <a:xfrm>
            <a:off x="548640" y="1965960"/>
            <a:ext cx="1371600" cy="1371600"/>
          </a:xfrm>
          <a:prstGeom prst="roundRect">
            <a:avLst>
              <a:gd fmla="val 4000" name="adj"/>
            </a:avLst>
          </a:prstGeom>
          <a:solidFill>
            <a:srgbClr val="2A2A2C"/>
          </a:solidFill>
          <a:ln cap="flat" cmpd="sng" w="9525">
            <a:solidFill>
              <a:srgbClr val="3A3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
          <p:cNvSpPr/>
          <p:nvPr/>
        </p:nvSpPr>
        <p:spPr>
          <a:xfrm>
            <a:off x="658368" y="2057400"/>
            <a:ext cx="7315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E73"/>
              </a:buClr>
              <a:buSzPts val="1100"/>
              <a:buFont typeface="JetBrains Mono"/>
              <a:buNone/>
            </a:pPr>
            <a:r>
              <a:rPr b="0" i="0" lang="en-US" sz="1100" u="none" cap="none" strike="noStrike">
                <a:solidFill>
                  <a:srgbClr val="6E6E73"/>
                </a:solidFill>
                <a:latin typeface="JetBrains Mono"/>
                <a:ea typeface="JetBrains Mono"/>
                <a:cs typeface="JetBrains Mono"/>
                <a:sym typeface="JetBrains Mono"/>
              </a:rPr>
              <a:t>01</a:t>
            </a:r>
            <a:endParaRPr b="0" i="0" sz="1100" u="none" cap="none" strike="noStrike">
              <a:solidFill>
                <a:schemeClr val="dk1"/>
              </a:solidFill>
              <a:latin typeface="Calibri"/>
              <a:ea typeface="Calibri"/>
              <a:cs typeface="Calibri"/>
              <a:sym typeface="Calibri"/>
            </a:endParaRPr>
          </a:p>
        </p:txBody>
      </p:sp>
      <p:sp>
        <p:nvSpPr>
          <p:cNvPr id="91" name="Google Shape;91;p4"/>
          <p:cNvSpPr/>
          <p:nvPr/>
        </p:nvSpPr>
        <p:spPr>
          <a:xfrm>
            <a:off x="603504" y="2441448"/>
            <a:ext cx="1261872" cy="62179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2F2F5"/>
              </a:buClr>
              <a:buSzPts val="1250"/>
              <a:buFont typeface="Instrument Sans"/>
              <a:buNone/>
            </a:pPr>
            <a:r>
              <a:rPr b="1" i="0" lang="en-US" sz="1250" u="none" cap="none" strike="noStrike">
                <a:solidFill>
                  <a:srgbClr val="F2F2F5"/>
                </a:solidFill>
                <a:latin typeface="Instrument Sans"/>
                <a:ea typeface="Instrument Sans"/>
                <a:cs typeface="Instrument Sans"/>
                <a:sym typeface="Instrument Sans"/>
              </a:rPr>
              <a:t>개념 입력</a:t>
            </a:r>
            <a:endParaRPr b="0" i="0" sz="1250" u="none" cap="none" strike="noStrike">
              <a:solidFill>
                <a:schemeClr val="dk1"/>
              </a:solidFill>
              <a:latin typeface="Calibri"/>
              <a:ea typeface="Calibri"/>
              <a:cs typeface="Calibri"/>
              <a:sym typeface="Calibri"/>
            </a:endParaRPr>
          </a:p>
        </p:txBody>
      </p:sp>
      <p:sp>
        <p:nvSpPr>
          <p:cNvPr id="92" name="Google Shape;92;p4"/>
          <p:cNvSpPr/>
          <p:nvPr/>
        </p:nvSpPr>
        <p:spPr>
          <a:xfrm>
            <a:off x="502920" y="3447288"/>
            <a:ext cx="1463040" cy="6400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8989D"/>
              </a:buClr>
              <a:buSzPts val="900"/>
              <a:buFont typeface="Instrument Sans"/>
              <a:buNone/>
            </a:pPr>
            <a:r>
              <a:rPr b="0" i="0" lang="en-US" sz="900" u="none" cap="none" strike="noStrike">
                <a:solidFill>
                  <a:srgbClr val="98989D"/>
                </a:solidFill>
                <a:latin typeface="Instrument Sans"/>
                <a:ea typeface="Instrument Sans"/>
                <a:cs typeface="Instrument Sans"/>
                <a:sym typeface="Instrument Sans"/>
              </a:rPr>
              <a:t>이미 배운 개념 선택</a:t>
            </a:r>
            <a:endParaRPr b="0" i="0" sz="900" u="none" cap="none" strike="noStrike">
              <a:solidFill>
                <a:schemeClr val="dk1"/>
              </a:solidFill>
              <a:latin typeface="Calibri"/>
              <a:ea typeface="Calibri"/>
              <a:cs typeface="Calibri"/>
              <a:sym typeface="Calibri"/>
            </a:endParaRPr>
          </a:p>
        </p:txBody>
      </p:sp>
      <p:sp>
        <p:nvSpPr>
          <p:cNvPr id="93" name="Google Shape;93;p4"/>
          <p:cNvSpPr/>
          <p:nvPr/>
        </p:nvSpPr>
        <p:spPr>
          <a:xfrm>
            <a:off x="1901952" y="1965960"/>
            <a:ext cx="219456"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8484A"/>
              </a:buClr>
              <a:buSzPts val="1300"/>
              <a:buFont typeface="JetBrains Mono"/>
              <a:buNone/>
            </a:pPr>
            <a:r>
              <a:rPr b="0" i="0" lang="en-US" sz="1300" u="none" cap="none" strike="noStrike">
                <a:solidFill>
                  <a:srgbClr val="48484A"/>
                </a:solidFill>
                <a:latin typeface="JetBrains Mono"/>
                <a:ea typeface="JetBrains Mono"/>
                <a:cs typeface="JetBrains Mono"/>
                <a:sym typeface="JetBrains Mono"/>
              </a:rPr>
              <a:t>&gt;</a:t>
            </a:r>
            <a:endParaRPr b="0" i="0" sz="1300" u="none" cap="none" strike="noStrike">
              <a:solidFill>
                <a:schemeClr val="dk1"/>
              </a:solidFill>
              <a:latin typeface="Calibri"/>
              <a:ea typeface="Calibri"/>
              <a:cs typeface="Calibri"/>
              <a:sym typeface="Calibri"/>
            </a:endParaRPr>
          </a:p>
        </p:txBody>
      </p:sp>
      <p:sp>
        <p:nvSpPr>
          <p:cNvPr id="94" name="Google Shape;94;p4"/>
          <p:cNvSpPr/>
          <p:nvPr/>
        </p:nvSpPr>
        <p:spPr>
          <a:xfrm>
            <a:off x="2103120" y="1965960"/>
            <a:ext cx="1371600" cy="1371600"/>
          </a:xfrm>
          <a:prstGeom prst="roundRect">
            <a:avLst>
              <a:gd fmla="val 4000" name="adj"/>
            </a:avLst>
          </a:prstGeom>
          <a:solidFill>
            <a:srgbClr val="2A2A2C"/>
          </a:solidFill>
          <a:ln cap="flat" cmpd="sng" w="9525">
            <a:solidFill>
              <a:srgbClr val="3A3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a:off x="2212848" y="2057400"/>
            <a:ext cx="7315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E73"/>
              </a:buClr>
              <a:buSzPts val="1100"/>
              <a:buFont typeface="JetBrains Mono"/>
              <a:buNone/>
            </a:pPr>
            <a:r>
              <a:rPr b="0" i="0" lang="en-US" sz="1100" u="none" cap="none" strike="noStrike">
                <a:solidFill>
                  <a:srgbClr val="6E6E73"/>
                </a:solidFill>
                <a:latin typeface="JetBrains Mono"/>
                <a:ea typeface="JetBrains Mono"/>
                <a:cs typeface="JetBrains Mono"/>
                <a:sym typeface="JetBrains Mono"/>
              </a:rPr>
              <a:t>02</a:t>
            </a:r>
            <a:endParaRPr b="0" i="0" sz="1100" u="none" cap="none" strike="noStrike">
              <a:solidFill>
                <a:schemeClr val="dk1"/>
              </a:solidFill>
              <a:latin typeface="Calibri"/>
              <a:ea typeface="Calibri"/>
              <a:cs typeface="Calibri"/>
              <a:sym typeface="Calibri"/>
            </a:endParaRPr>
          </a:p>
        </p:txBody>
      </p:sp>
      <p:sp>
        <p:nvSpPr>
          <p:cNvPr id="96" name="Google Shape;96;p4"/>
          <p:cNvSpPr/>
          <p:nvPr/>
        </p:nvSpPr>
        <p:spPr>
          <a:xfrm>
            <a:off x="2157984" y="2441448"/>
            <a:ext cx="1261872" cy="62179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2F2F5"/>
              </a:buClr>
              <a:buSzPts val="1250"/>
              <a:buFont typeface="Instrument Sans"/>
              <a:buNone/>
            </a:pPr>
            <a:r>
              <a:rPr b="1" i="0" lang="en-US" sz="1250" u="none" cap="none" strike="noStrike">
                <a:solidFill>
                  <a:srgbClr val="F2F2F5"/>
                </a:solidFill>
                <a:latin typeface="Instrument Sans"/>
                <a:ea typeface="Instrument Sans"/>
                <a:cs typeface="Instrument Sans"/>
                <a:sym typeface="Instrument Sans"/>
              </a:rPr>
              <a:t>목표 선택</a:t>
            </a:r>
            <a:endParaRPr b="0" i="0" sz="1250" u="none" cap="none" strike="noStrike">
              <a:solidFill>
                <a:schemeClr val="dk1"/>
              </a:solidFill>
              <a:latin typeface="Calibri"/>
              <a:ea typeface="Calibri"/>
              <a:cs typeface="Calibri"/>
              <a:sym typeface="Calibri"/>
            </a:endParaRPr>
          </a:p>
        </p:txBody>
      </p:sp>
      <p:sp>
        <p:nvSpPr>
          <p:cNvPr id="97" name="Google Shape;97;p4"/>
          <p:cNvSpPr/>
          <p:nvPr/>
        </p:nvSpPr>
        <p:spPr>
          <a:xfrm>
            <a:off x="2057400" y="3447288"/>
            <a:ext cx="1463040" cy="6400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8989D"/>
              </a:buClr>
              <a:buSzPts val="900"/>
              <a:buFont typeface="Instrument Sans"/>
              <a:buNone/>
            </a:pPr>
            <a:r>
              <a:rPr b="0" i="0" lang="en-US" sz="900" u="none" cap="none" strike="noStrike">
                <a:solidFill>
                  <a:srgbClr val="98989D"/>
                </a:solidFill>
                <a:latin typeface="Instrument Sans"/>
                <a:ea typeface="Instrument Sans"/>
                <a:cs typeface="Instrument Sans"/>
                <a:sym typeface="Instrument Sans"/>
              </a:rPr>
              <a:t>이해 · 적용 · 종합</a:t>
            </a:r>
            <a:endParaRPr b="0" i="0" sz="900" u="none" cap="none" strike="noStrike">
              <a:solidFill>
                <a:schemeClr val="dk1"/>
              </a:solidFill>
              <a:latin typeface="Calibri"/>
              <a:ea typeface="Calibri"/>
              <a:cs typeface="Calibri"/>
              <a:sym typeface="Calibri"/>
            </a:endParaRPr>
          </a:p>
        </p:txBody>
      </p:sp>
      <p:sp>
        <p:nvSpPr>
          <p:cNvPr id="98" name="Google Shape;98;p4"/>
          <p:cNvSpPr/>
          <p:nvPr/>
        </p:nvSpPr>
        <p:spPr>
          <a:xfrm>
            <a:off x="3456432" y="1965960"/>
            <a:ext cx="219456"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8484A"/>
              </a:buClr>
              <a:buSzPts val="1300"/>
              <a:buFont typeface="JetBrains Mono"/>
              <a:buNone/>
            </a:pPr>
            <a:r>
              <a:rPr b="0" i="0" lang="en-US" sz="1300" u="none" cap="none" strike="noStrike">
                <a:solidFill>
                  <a:srgbClr val="48484A"/>
                </a:solidFill>
                <a:latin typeface="JetBrains Mono"/>
                <a:ea typeface="JetBrains Mono"/>
                <a:cs typeface="JetBrains Mono"/>
                <a:sym typeface="JetBrains Mono"/>
              </a:rPr>
              <a:t>&gt;</a:t>
            </a:r>
            <a:endParaRPr b="0" i="0" sz="1300" u="none" cap="none" strike="noStrike">
              <a:solidFill>
                <a:schemeClr val="dk1"/>
              </a:solidFill>
              <a:latin typeface="Calibri"/>
              <a:ea typeface="Calibri"/>
              <a:cs typeface="Calibri"/>
              <a:sym typeface="Calibri"/>
            </a:endParaRPr>
          </a:p>
        </p:txBody>
      </p:sp>
      <p:sp>
        <p:nvSpPr>
          <p:cNvPr id="99" name="Google Shape;99;p4"/>
          <p:cNvSpPr/>
          <p:nvPr/>
        </p:nvSpPr>
        <p:spPr>
          <a:xfrm>
            <a:off x="3657600" y="1965960"/>
            <a:ext cx="1371600" cy="1371600"/>
          </a:xfrm>
          <a:prstGeom prst="roundRect">
            <a:avLst>
              <a:gd fmla="val 4000" name="adj"/>
            </a:avLst>
          </a:prstGeom>
          <a:solidFill>
            <a:srgbClr val="2A2A2C"/>
          </a:solidFill>
          <a:ln cap="flat" cmpd="sng" w="9525">
            <a:solidFill>
              <a:srgbClr val="3A3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
          <p:cNvSpPr/>
          <p:nvPr/>
        </p:nvSpPr>
        <p:spPr>
          <a:xfrm>
            <a:off x="3767328" y="2057400"/>
            <a:ext cx="7315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E73"/>
              </a:buClr>
              <a:buSzPts val="1100"/>
              <a:buFont typeface="JetBrains Mono"/>
              <a:buNone/>
            </a:pPr>
            <a:r>
              <a:rPr b="0" i="0" lang="en-US" sz="1100" u="none" cap="none" strike="noStrike">
                <a:solidFill>
                  <a:srgbClr val="6E6E73"/>
                </a:solidFill>
                <a:latin typeface="JetBrains Mono"/>
                <a:ea typeface="JetBrains Mono"/>
                <a:cs typeface="JetBrains Mono"/>
                <a:sym typeface="JetBrains Mono"/>
              </a:rPr>
              <a:t>03</a:t>
            </a:r>
            <a:endParaRPr b="0" i="0" sz="1100" u="none" cap="none" strike="noStrike">
              <a:solidFill>
                <a:schemeClr val="dk1"/>
              </a:solidFill>
              <a:latin typeface="Calibri"/>
              <a:ea typeface="Calibri"/>
              <a:cs typeface="Calibri"/>
              <a:sym typeface="Calibri"/>
            </a:endParaRPr>
          </a:p>
        </p:txBody>
      </p:sp>
      <p:sp>
        <p:nvSpPr>
          <p:cNvPr id="101" name="Google Shape;101;p4"/>
          <p:cNvSpPr/>
          <p:nvPr/>
        </p:nvSpPr>
        <p:spPr>
          <a:xfrm>
            <a:off x="3712464" y="2441448"/>
            <a:ext cx="1261872" cy="62179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2F2F5"/>
              </a:buClr>
              <a:buSzPts val="1250"/>
              <a:buFont typeface="Instrument Sans"/>
              <a:buNone/>
            </a:pPr>
            <a:r>
              <a:rPr b="1" i="0" lang="en-US" sz="1250" u="none" cap="none" strike="noStrike">
                <a:solidFill>
                  <a:srgbClr val="F2F2F5"/>
                </a:solidFill>
                <a:latin typeface="Instrument Sans"/>
                <a:ea typeface="Instrument Sans"/>
                <a:cs typeface="Instrument Sans"/>
                <a:sym typeface="Instrument Sans"/>
              </a:rPr>
              <a:t>추가 설명</a:t>
            </a:r>
            <a:endParaRPr b="0" i="0" sz="1250" u="none" cap="none" strike="noStrike">
              <a:solidFill>
                <a:schemeClr val="dk1"/>
              </a:solidFill>
              <a:latin typeface="Calibri"/>
              <a:ea typeface="Calibri"/>
              <a:cs typeface="Calibri"/>
              <a:sym typeface="Calibri"/>
            </a:endParaRPr>
          </a:p>
        </p:txBody>
      </p:sp>
      <p:sp>
        <p:nvSpPr>
          <p:cNvPr id="102" name="Google Shape;102;p4"/>
          <p:cNvSpPr/>
          <p:nvPr/>
        </p:nvSpPr>
        <p:spPr>
          <a:xfrm>
            <a:off x="3611880" y="3447288"/>
            <a:ext cx="1463040" cy="6400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8989D"/>
              </a:buClr>
              <a:buSzPts val="900"/>
              <a:buFont typeface="Instrument Sans"/>
              <a:buNone/>
            </a:pPr>
            <a:r>
              <a:rPr b="0" i="0" lang="en-US" sz="900" u="none" cap="none" strike="noStrike">
                <a:solidFill>
                  <a:srgbClr val="98989D"/>
                </a:solidFill>
                <a:latin typeface="Instrument Sans"/>
                <a:ea typeface="Instrument Sans"/>
                <a:cs typeface="Instrument Sans"/>
                <a:sym typeface="Instrument Sans"/>
              </a:rPr>
              <a:t>선택, 비워도 OK</a:t>
            </a:r>
            <a:endParaRPr b="0" i="0" sz="900" u="none" cap="none" strike="noStrike">
              <a:solidFill>
                <a:schemeClr val="dk1"/>
              </a:solidFill>
              <a:latin typeface="Calibri"/>
              <a:ea typeface="Calibri"/>
              <a:cs typeface="Calibri"/>
              <a:sym typeface="Calibri"/>
            </a:endParaRPr>
          </a:p>
        </p:txBody>
      </p:sp>
      <p:sp>
        <p:nvSpPr>
          <p:cNvPr id="103" name="Google Shape;103;p4"/>
          <p:cNvSpPr/>
          <p:nvPr/>
        </p:nvSpPr>
        <p:spPr>
          <a:xfrm>
            <a:off x="5010912" y="1965960"/>
            <a:ext cx="219456"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8484A"/>
              </a:buClr>
              <a:buSzPts val="1300"/>
              <a:buFont typeface="JetBrains Mono"/>
              <a:buNone/>
            </a:pPr>
            <a:r>
              <a:rPr b="0" i="0" lang="en-US" sz="1300" u="none" cap="none" strike="noStrike">
                <a:solidFill>
                  <a:srgbClr val="48484A"/>
                </a:solidFill>
                <a:latin typeface="JetBrains Mono"/>
                <a:ea typeface="JetBrains Mono"/>
                <a:cs typeface="JetBrains Mono"/>
                <a:sym typeface="JetBrains Mono"/>
              </a:rPr>
              <a:t>&gt;</a:t>
            </a:r>
            <a:endParaRPr b="0" i="0" sz="1300" u="none" cap="none" strike="noStrike">
              <a:solidFill>
                <a:schemeClr val="dk1"/>
              </a:solidFill>
              <a:latin typeface="Calibri"/>
              <a:ea typeface="Calibri"/>
              <a:cs typeface="Calibri"/>
              <a:sym typeface="Calibri"/>
            </a:endParaRPr>
          </a:p>
        </p:txBody>
      </p:sp>
      <p:sp>
        <p:nvSpPr>
          <p:cNvPr id="104" name="Google Shape;104;p4"/>
          <p:cNvSpPr/>
          <p:nvPr/>
        </p:nvSpPr>
        <p:spPr>
          <a:xfrm>
            <a:off x="5212080" y="1965960"/>
            <a:ext cx="1371600" cy="1371600"/>
          </a:xfrm>
          <a:prstGeom prst="roundRect">
            <a:avLst>
              <a:gd fmla="val 4000" name="adj"/>
            </a:avLst>
          </a:prstGeom>
          <a:solidFill>
            <a:srgbClr val="2A2A2C"/>
          </a:solidFill>
          <a:ln cap="flat" cmpd="sng" w="9525">
            <a:solidFill>
              <a:srgbClr val="3A3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5321808" y="2057400"/>
            <a:ext cx="7315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E73"/>
              </a:buClr>
              <a:buSzPts val="1100"/>
              <a:buFont typeface="JetBrains Mono"/>
              <a:buNone/>
            </a:pPr>
            <a:r>
              <a:rPr b="0" i="0" lang="en-US" sz="1100" u="none" cap="none" strike="noStrike">
                <a:solidFill>
                  <a:srgbClr val="6E6E73"/>
                </a:solidFill>
                <a:latin typeface="JetBrains Mono"/>
                <a:ea typeface="JetBrains Mono"/>
                <a:cs typeface="JetBrains Mono"/>
                <a:sym typeface="JetBrains Mono"/>
              </a:rPr>
              <a:t>04</a:t>
            </a:r>
            <a:endParaRPr b="0" i="0" sz="1100" u="none" cap="none" strike="noStrike">
              <a:solidFill>
                <a:schemeClr val="dk1"/>
              </a:solidFill>
              <a:latin typeface="Calibri"/>
              <a:ea typeface="Calibri"/>
              <a:cs typeface="Calibri"/>
              <a:sym typeface="Calibri"/>
            </a:endParaRPr>
          </a:p>
        </p:txBody>
      </p:sp>
      <p:sp>
        <p:nvSpPr>
          <p:cNvPr id="106" name="Google Shape;106;p4"/>
          <p:cNvSpPr/>
          <p:nvPr/>
        </p:nvSpPr>
        <p:spPr>
          <a:xfrm>
            <a:off x="5266944" y="2441448"/>
            <a:ext cx="1261872" cy="62179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2F2F5"/>
              </a:buClr>
              <a:buSzPts val="1250"/>
              <a:buFont typeface="Instrument Sans"/>
              <a:buNone/>
            </a:pPr>
            <a:r>
              <a:rPr b="1" i="0" lang="en-US" sz="1250" u="none" cap="none" strike="noStrike">
                <a:solidFill>
                  <a:srgbClr val="F2F2F5"/>
                </a:solidFill>
                <a:latin typeface="Instrument Sans"/>
                <a:ea typeface="Instrument Sans"/>
                <a:cs typeface="Instrument Sans"/>
                <a:sym typeface="Instrument Sans"/>
              </a:rPr>
              <a:t>생성·</a:t>
            </a:r>
            <a:endParaRPr b="0" i="0" sz="12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2F2F5"/>
              </a:buClr>
              <a:buSzPts val="1250"/>
              <a:buFont typeface="Instrument Sans"/>
              <a:buNone/>
            </a:pPr>
            <a:r>
              <a:rPr b="1" i="0" lang="en-US" sz="1250" u="none" cap="none" strike="noStrike">
                <a:solidFill>
                  <a:srgbClr val="F2F2F5"/>
                </a:solidFill>
                <a:latin typeface="Instrument Sans"/>
                <a:ea typeface="Instrument Sans"/>
                <a:cs typeface="Instrument Sans"/>
                <a:sym typeface="Instrument Sans"/>
              </a:rPr>
              <a:t>스트리밍</a:t>
            </a:r>
            <a:endParaRPr b="0" i="0" sz="1250" u="none" cap="none" strike="noStrike">
              <a:solidFill>
                <a:schemeClr val="dk1"/>
              </a:solidFill>
              <a:latin typeface="Calibri"/>
              <a:ea typeface="Calibri"/>
              <a:cs typeface="Calibri"/>
              <a:sym typeface="Calibri"/>
            </a:endParaRPr>
          </a:p>
        </p:txBody>
      </p:sp>
      <p:sp>
        <p:nvSpPr>
          <p:cNvPr id="107" name="Google Shape;107;p4"/>
          <p:cNvSpPr/>
          <p:nvPr/>
        </p:nvSpPr>
        <p:spPr>
          <a:xfrm>
            <a:off x="5166360" y="3447288"/>
            <a:ext cx="1463040" cy="6400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8989D"/>
              </a:buClr>
              <a:buSzPts val="900"/>
              <a:buFont typeface="Instrument Sans"/>
              <a:buNone/>
            </a:pPr>
            <a:r>
              <a:rPr b="0" i="0" lang="en-US" sz="900" u="none" cap="none" strike="noStrike">
                <a:solidFill>
                  <a:srgbClr val="98989D"/>
                </a:solidFill>
                <a:latin typeface="Instrument Sans"/>
                <a:ea typeface="Instrument Sans"/>
                <a:cs typeface="Instrument Sans"/>
                <a:sym typeface="Instrument Sans"/>
              </a:rPr>
              <a:t>토큰 단위 실시간 응답</a:t>
            </a:r>
            <a:endParaRPr b="0" i="0" sz="900" u="none" cap="none" strike="noStrike">
              <a:solidFill>
                <a:schemeClr val="dk1"/>
              </a:solidFill>
              <a:latin typeface="Calibri"/>
              <a:ea typeface="Calibri"/>
              <a:cs typeface="Calibri"/>
              <a:sym typeface="Calibri"/>
            </a:endParaRPr>
          </a:p>
        </p:txBody>
      </p:sp>
      <p:sp>
        <p:nvSpPr>
          <p:cNvPr id="108" name="Google Shape;108;p4"/>
          <p:cNvSpPr/>
          <p:nvPr/>
        </p:nvSpPr>
        <p:spPr>
          <a:xfrm>
            <a:off x="6565392" y="1965960"/>
            <a:ext cx="219456"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8484A"/>
              </a:buClr>
              <a:buSzPts val="1300"/>
              <a:buFont typeface="JetBrains Mono"/>
              <a:buNone/>
            </a:pPr>
            <a:r>
              <a:rPr b="0" i="0" lang="en-US" sz="1300" u="none" cap="none" strike="noStrike">
                <a:solidFill>
                  <a:srgbClr val="48484A"/>
                </a:solidFill>
                <a:latin typeface="JetBrains Mono"/>
                <a:ea typeface="JetBrains Mono"/>
                <a:cs typeface="JetBrains Mono"/>
                <a:sym typeface="JetBrains Mono"/>
              </a:rPr>
              <a:t>&gt;</a:t>
            </a:r>
            <a:endParaRPr b="0" i="0" sz="1300" u="none" cap="none" strike="noStrike">
              <a:solidFill>
                <a:schemeClr val="dk1"/>
              </a:solidFill>
              <a:latin typeface="Calibri"/>
              <a:ea typeface="Calibri"/>
              <a:cs typeface="Calibri"/>
              <a:sym typeface="Calibri"/>
            </a:endParaRPr>
          </a:p>
        </p:txBody>
      </p:sp>
      <p:sp>
        <p:nvSpPr>
          <p:cNvPr id="109" name="Google Shape;109;p4"/>
          <p:cNvSpPr/>
          <p:nvPr/>
        </p:nvSpPr>
        <p:spPr>
          <a:xfrm>
            <a:off x="6766560" y="1965960"/>
            <a:ext cx="1371600" cy="1371600"/>
          </a:xfrm>
          <a:prstGeom prst="roundRect">
            <a:avLst>
              <a:gd fmla="val 4000" name="adj"/>
            </a:avLst>
          </a:prstGeom>
          <a:solidFill>
            <a:srgbClr val="2A2A2C"/>
          </a:solidFill>
          <a:ln cap="flat" cmpd="sng" w="9525">
            <a:solidFill>
              <a:srgbClr val="3A3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p:nvPr/>
        </p:nvSpPr>
        <p:spPr>
          <a:xfrm>
            <a:off x="6876288" y="2057400"/>
            <a:ext cx="7315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E73"/>
              </a:buClr>
              <a:buSzPts val="1100"/>
              <a:buFont typeface="JetBrains Mono"/>
              <a:buNone/>
            </a:pPr>
            <a:r>
              <a:rPr b="0" i="0" lang="en-US" sz="1100" u="none" cap="none" strike="noStrike">
                <a:solidFill>
                  <a:srgbClr val="6E6E73"/>
                </a:solidFill>
                <a:latin typeface="JetBrains Mono"/>
                <a:ea typeface="JetBrains Mono"/>
                <a:cs typeface="JetBrains Mono"/>
                <a:sym typeface="JetBrains Mono"/>
              </a:rPr>
              <a:t>05</a:t>
            </a:r>
            <a:endParaRPr b="0" i="0" sz="1100" u="none" cap="none" strike="noStrike">
              <a:solidFill>
                <a:schemeClr val="dk1"/>
              </a:solidFill>
              <a:latin typeface="Calibri"/>
              <a:ea typeface="Calibri"/>
              <a:cs typeface="Calibri"/>
              <a:sym typeface="Calibri"/>
            </a:endParaRPr>
          </a:p>
        </p:txBody>
      </p:sp>
      <p:sp>
        <p:nvSpPr>
          <p:cNvPr id="111" name="Google Shape;111;p4"/>
          <p:cNvSpPr/>
          <p:nvPr/>
        </p:nvSpPr>
        <p:spPr>
          <a:xfrm>
            <a:off x="6821424" y="2441448"/>
            <a:ext cx="1261872" cy="62179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2F2F5"/>
              </a:buClr>
              <a:buSzPts val="1250"/>
              <a:buFont typeface="Instrument Sans"/>
              <a:buNone/>
            </a:pPr>
            <a:r>
              <a:rPr b="1" i="0" lang="en-US" sz="1250" u="none" cap="none" strike="noStrike">
                <a:solidFill>
                  <a:srgbClr val="F2F2F5"/>
                </a:solidFill>
                <a:latin typeface="Instrument Sans"/>
                <a:ea typeface="Instrument Sans"/>
                <a:cs typeface="Instrument Sans"/>
                <a:sym typeface="Instrument Sans"/>
              </a:rPr>
              <a:t>실습 진행</a:t>
            </a:r>
            <a:endParaRPr b="0" i="0" sz="1250" u="none" cap="none" strike="noStrike">
              <a:solidFill>
                <a:schemeClr val="dk1"/>
              </a:solidFill>
              <a:latin typeface="Calibri"/>
              <a:ea typeface="Calibri"/>
              <a:cs typeface="Calibri"/>
              <a:sym typeface="Calibri"/>
            </a:endParaRPr>
          </a:p>
        </p:txBody>
      </p:sp>
      <p:sp>
        <p:nvSpPr>
          <p:cNvPr id="112" name="Google Shape;112;p4"/>
          <p:cNvSpPr/>
          <p:nvPr/>
        </p:nvSpPr>
        <p:spPr>
          <a:xfrm>
            <a:off x="6720840" y="3447288"/>
            <a:ext cx="1463040" cy="6400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8989D"/>
              </a:buClr>
              <a:buSzPts val="900"/>
              <a:buFont typeface="Instrument Sans"/>
              <a:buNone/>
            </a:pPr>
            <a:r>
              <a:rPr b="0" i="0" lang="en-US" sz="900" u="none" cap="none" strike="noStrike">
                <a:solidFill>
                  <a:srgbClr val="98989D"/>
                </a:solidFill>
                <a:latin typeface="Instrument Sans"/>
                <a:ea typeface="Instrument Sans"/>
                <a:cs typeface="Instrument Sans"/>
                <a:sym typeface="Instrument Sans"/>
              </a:rPr>
              <a:t>같은 화면 코드 실행</a:t>
            </a:r>
            <a:endParaRPr b="0" i="0" sz="900" u="none" cap="none" strike="noStrike">
              <a:solidFill>
                <a:schemeClr val="dk1"/>
              </a:solidFill>
              <a:latin typeface="Calibri"/>
              <a:ea typeface="Calibri"/>
              <a:cs typeface="Calibri"/>
              <a:sym typeface="Calibri"/>
            </a:endParaRPr>
          </a:p>
        </p:txBody>
      </p:sp>
      <p:sp>
        <p:nvSpPr>
          <p:cNvPr id="113" name="Google Shape;113;p4"/>
          <p:cNvSpPr/>
          <p:nvPr/>
        </p:nvSpPr>
        <p:spPr>
          <a:xfrm>
            <a:off x="8119872" y="1965960"/>
            <a:ext cx="219456"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8484A"/>
              </a:buClr>
              <a:buSzPts val="1300"/>
              <a:buFont typeface="JetBrains Mono"/>
              <a:buNone/>
            </a:pPr>
            <a:r>
              <a:rPr b="0" i="0" lang="en-US" sz="1300" u="none" cap="none" strike="noStrike">
                <a:solidFill>
                  <a:srgbClr val="48484A"/>
                </a:solidFill>
                <a:latin typeface="JetBrains Mono"/>
                <a:ea typeface="JetBrains Mono"/>
                <a:cs typeface="JetBrains Mono"/>
                <a:sym typeface="JetBrains Mono"/>
              </a:rPr>
              <a:t>&gt;</a:t>
            </a:r>
            <a:endParaRPr b="0" i="0" sz="1300" u="none" cap="none" strike="noStrike">
              <a:solidFill>
                <a:schemeClr val="dk1"/>
              </a:solidFill>
              <a:latin typeface="Calibri"/>
              <a:ea typeface="Calibri"/>
              <a:cs typeface="Calibri"/>
              <a:sym typeface="Calibri"/>
            </a:endParaRPr>
          </a:p>
        </p:txBody>
      </p:sp>
      <p:sp>
        <p:nvSpPr>
          <p:cNvPr id="114" name="Google Shape;114;p4"/>
          <p:cNvSpPr/>
          <p:nvPr/>
        </p:nvSpPr>
        <p:spPr>
          <a:xfrm>
            <a:off x="8321040" y="1965960"/>
            <a:ext cx="1371600" cy="1371600"/>
          </a:xfrm>
          <a:prstGeom prst="roundRect">
            <a:avLst>
              <a:gd fmla="val 4000" name="adj"/>
            </a:avLst>
          </a:prstGeom>
          <a:solidFill>
            <a:srgbClr val="2A2A2C"/>
          </a:solidFill>
          <a:ln cap="flat" cmpd="sng" w="9525">
            <a:solidFill>
              <a:srgbClr val="3A3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
          <p:cNvSpPr/>
          <p:nvPr/>
        </p:nvSpPr>
        <p:spPr>
          <a:xfrm>
            <a:off x="8430768" y="2057400"/>
            <a:ext cx="7315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E73"/>
              </a:buClr>
              <a:buSzPts val="1100"/>
              <a:buFont typeface="JetBrains Mono"/>
              <a:buNone/>
            </a:pPr>
            <a:r>
              <a:rPr b="0" i="0" lang="en-US" sz="1100" u="none" cap="none" strike="noStrike">
                <a:solidFill>
                  <a:srgbClr val="6E6E73"/>
                </a:solidFill>
                <a:latin typeface="JetBrains Mono"/>
                <a:ea typeface="JetBrains Mono"/>
                <a:cs typeface="JetBrains Mono"/>
                <a:sym typeface="JetBrains Mono"/>
              </a:rPr>
              <a:t>06</a:t>
            </a:r>
            <a:endParaRPr b="0" i="0" sz="1100" u="none" cap="none" strike="noStrike">
              <a:solidFill>
                <a:schemeClr val="dk1"/>
              </a:solidFill>
              <a:latin typeface="Calibri"/>
              <a:ea typeface="Calibri"/>
              <a:cs typeface="Calibri"/>
              <a:sym typeface="Calibri"/>
            </a:endParaRPr>
          </a:p>
        </p:txBody>
      </p:sp>
      <p:sp>
        <p:nvSpPr>
          <p:cNvPr id="116" name="Google Shape;116;p4"/>
          <p:cNvSpPr/>
          <p:nvPr/>
        </p:nvSpPr>
        <p:spPr>
          <a:xfrm>
            <a:off x="8375904" y="2441448"/>
            <a:ext cx="1261872" cy="62179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2F2F5"/>
              </a:buClr>
              <a:buSzPts val="1250"/>
              <a:buFont typeface="Instrument Sans"/>
              <a:buNone/>
            </a:pPr>
            <a:r>
              <a:rPr b="1" i="0" lang="en-US" sz="1250" u="none" cap="none" strike="noStrike">
                <a:solidFill>
                  <a:srgbClr val="F2F2F5"/>
                </a:solidFill>
                <a:latin typeface="Instrument Sans"/>
                <a:ea typeface="Instrument Sans"/>
                <a:cs typeface="Instrument Sans"/>
                <a:sym typeface="Instrument Sans"/>
              </a:rPr>
              <a:t>피드백</a:t>
            </a:r>
            <a:endParaRPr b="0" i="0" sz="12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2F2F5"/>
              </a:buClr>
              <a:buSzPts val="1250"/>
              <a:buFont typeface="Instrument Sans"/>
              <a:buNone/>
            </a:pPr>
            <a:r>
              <a:rPr b="1" i="0" lang="en-US" sz="1250" u="none" cap="none" strike="noStrike">
                <a:solidFill>
                  <a:srgbClr val="F2F2F5"/>
                </a:solidFill>
                <a:latin typeface="Instrument Sans"/>
                <a:ea typeface="Instrument Sans"/>
                <a:cs typeface="Instrument Sans"/>
                <a:sym typeface="Instrument Sans"/>
              </a:rPr>
              <a:t>받기</a:t>
            </a:r>
            <a:endParaRPr b="0" i="0" sz="1250" u="none" cap="none" strike="noStrike">
              <a:solidFill>
                <a:schemeClr val="dk1"/>
              </a:solidFill>
              <a:latin typeface="Calibri"/>
              <a:ea typeface="Calibri"/>
              <a:cs typeface="Calibri"/>
              <a:sym typeface="Calibri"/>
            </a:endParaRPr>
          </a:p>
        </p:txBody>
      </p:sp>
      <p:sp>
        <p:nvSpPr>
          <p:cNvPr id="117" name="Google Shape;117;p4"/>
          <p:cNvSpPr/>
          <p:nvPr/>
        </p:nvSpPr>
        <p:spPr>
          <a:xfrm>
            <a:off x="8275320" y="3447288"/>
            <a:ext cx="1463040" cy="6400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8989D"/>
              </a:buClr>
              <a:buSzPts val="900"/>
              <a:buFont typeface="Instrument Sans"/>
              <a:buNone/>
            </a:pPr>
            <a:r>
              <a:rPr b="0" i="0" lang="en-US" sz="900" u="none" cap="none" strike="noStrike">
                <a:solidFill>
                  <a:srgbClr val="98989D"/>
                </a:solidFill>
                <a:latin typeface="Instrument Sans"/>
                <a:ea typeface="Instrument Sans"/>
                <a:cs typeface="Instrument Sans"/>
                <a:sym typeface="Instrument Sans"/>
              </a:rPr>
              <a:t>관찰 + 다음 질문 톤</a:t>
            </a:r>
            <a:endParaRPr b="0" i="0" sz="900" u="none" cap="none" strike="noStrike">
              <a:solidFill>
                <a:schemeClr val="dk1"/>
              </a:solidFill>
              <a:latin typeface="Calibri"/>
              <a:ea typeface="Calibri"/>
              <a:cs typeface="Calibri"/>
              <a:sym typeface="Calibri"/>
            </a:endParaRPr>
          </a:p>
        </p:txBody>
      </p:sp>
      <p:sp>
        <p:nvSpPr>
          <p:cNvPr id="118" name="Google Shape;118;p4"/>
          <p:cNvSpPr/>
          <p:nvPr/>
        </p:nvSpPr>
        <p:spPr>
          <a:xfrm>
            <a:off x="9674352" y="1965960"/>
            <a:ext cx="219456"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8484A"/>
              </a:buClr>
              <a:buSzPts val="1300"/>
              <a:buFont typeface="JetBrains Mono"/>
              <a:buNone/>
            </a:pPr>
            <a:r>
              <a:rPr b="0" i="0" lang="en-US" sz="1300" u="none" cap="none" strike="noStrike">
                <a:solidFill>
                  <a:srgbClr val="48484A"/>
                </a:solidFill>
                <a:latin typeface="JetBrains Mono"/>
                <a:ea typeface="JetBrains Mono"/>
                <a:cs typeface="JetBrains Mono"/>
                <a:sym typeface="JetBrains Mono"/>
              </a:rPr>
              <a:t>&gt;</a:t>
            </a:r>
            <a:endParaRPr b="0" i="0" sz="1300" u="none" cap="none" strike="noStrike">
              <a:solidFill>
                <a:schemeClr val="dk1"/>
              </a:solidFill>
              <a:latin typeface="Calibri"/>
              <a:ea typeface="Calibri"/>
              <a:cs typeface="Calibri"/>
              <a:sym typeface="Calibri"/>
            </a:endParaRPr>
          </a:p>
        </p:txBody>
      </p:sp>
      <p:sp>
        <p:nvSpPr>
          <p:cNvPr id="119" name="Google Shape;119;p4"/>
          <p:cNvSpPr/>
          <p:nvPr/>
        </p:nvSpPr>
        <p:spPr>
          <a:xfrm>
            <a:off x="9875520" y="1965960"/>
            <a:ext cx="1371600" cy="1371600"/>
          </a:xfrm>
          <a:prstGeom prst="roundRect">
            <a:avLst>
              <a:gd fmla="val 4000" name="adj"/>
            </a:avLst>
          </a:prstGeom>
          <a:solidFill>
            <a:srgbClr val="163521"/>
          </a:solidFill>
          <a:ln cap="flat" cmpd="sng" w="9525">
            <a:solidFill>
              <a:srgbClr val="32D7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
          <p:cNvSpPr/>
          <p:nvPr/>
        </p:nvSpPr>
        <p:spPr>
          <a:xfrm>
            <a:off x="9985248" y="2057400"/>
            <a:ext cx="7315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2D74B"/>
              </a:buClr>
              <a:buSzPts val="1100"/>
              <a:buFont typeface="JetBrains Mono"/>
              <a:buNone/>
            </a:pPr>
            <a:r>
              <a:rPr b="1" i="0" lang="en-US" sz="1100" u="none" cap="none" strike="noStrike">
                <a:solidFill>
                  <a:srgbClr val="32D74B"/>
                </a:solidFill>
                <a:latin typeface="JetBrains Mono"/>
                <a:ea typeface="JetBrains Mono"/>
                <a:cs typeface="JetBrains Mono"/>
                <a:sym typeface="JetBrains Mono"/>
              </a:rPr>
              <a:t>07</a:t>
            </a:r>
            <a:endParaRPr b="0" i="0" sz="1100" u="none" cap="none" strike="noStrike">
              <a:solidFill>
                <a:schemeClr val="dk1"/>
              </a:solidFill>
              <a:latin typeface="Calibri"/>
              <a:ea typeface="Calibri"/>
              <a:cs typeface="Calibri"/>
              <a:sym typeface="Calibri"/>
            </a:endParaRPr>
          </a:p>
        </p:txBody>
      </p:sp>
      <p:sp>
        <p:nvSpPr>
          <p:cNvPr id="121" name="Google Shape;121;p4"/>
          <p:cNvSpPr/>
          <p:nvPr/>
        </p:nvSpPr>
        <p:spPr>
          <a:xfrm>
            <a:off x="9930384" y="2441448"/>
            <a:ext cx="1261872" cy="62179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2F2F5"/>
              </a:buClr>
              <a:buSzPts val="1250"/>
              <a:buFont typeface="Instrument Sans"/>
              <a:buNone/>
            </a:pPr>
            <a:r>
              <a:rPr b="1" i="0" lang="en-US" sz="1250" u="none" cap="none" strike="noStrike">
                <a:solidFill>
                  <a:srgbClr val="F2F2F5"/>
                </a:solidFill>
                <a:latin typeface="Instrument Sans"/>
                <a:ea typeface="Instrument Sans"/>
                <a:cs typeface="Instrument Sans"/>
                <a:sym typeface="Instrument Sans"/>
              </a:rPr>
              <a:t>완료 판정</a:t>
            </a:r>
            <a:endParaRPr b="0" i="0" sz="1250" u="none" cap="none" strike="noStrike">
              <a:solidFill>
                <a:schemeClr val="dk1"/>
              </a:solidFill>
              <a:latin typeface="Calibri"/>
              <a:ea typeface="Calibri"/>
              <a:cs typeface="Calibri"/>
              <a:sym typeface="Calibri"/>
            </a:endParaRPr>
          </a:p>
        </p:txBody>
      </p:sp>
      <p:sp>
        <p:nvSpPr>
          <p:cNvPr id="122" name="Google Shape;122;p4"/>
          <p:cNvSpPr/>
          <p:nvPr/>
        </p:nvSpPr>
        <p:spPr>
          <a:xfrm>
            <a:off x="9829800" y="3447288"/>
            <a:ext cx="1463040" cy="6400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98989D"/>
              </a:buClr>
              <a:buSzPts val="900"/>
              <a:buFont typeface="Instrument Sans"/>
              <a:buNone/>
            </a:pPr>
            <a:r>
              <a:rPr b="0" i="0" lang="en-US" sz="900" u="none" cap="none" strike="noStrike">
                <a:solidFill>
                  <a:srgbClr val="98989D"/>
                </a:solidFill>
                <a:latin typeface="Instrument Sans"/>
                <a:ea typeface="Instrument Sans"/>
                <a:cs typeface="Instrument Sans"/>
                <a:sym typeface="Instrument Sans"/>
              </a:rPr>
              <a:t>✅ 완료 기준 충족</a:t>
            </a:r>
            <a:endParaRPr b="0" i="0" sz="900" u="none" cap="none" strike="noStrike">
              <a:solidFill>
                <a:schemeClr val="dk1"/>
              </a:solidFill>
              <a:latin typeface="Calibri"/>
              <a:ea typeface="Calibri"/>
              <a:cs typeface="Calibri"/>
              <a:sym typeface="Calibri"/>
            </a:endParaRPr>
          </a:p>
        </p:txBody>
      </p:sp>
      <p:sp>
        <p:nvSpPr>
          <p:cNvPr id="123" name="Google Shape;123;p4"/>
          <p:cNvSpPr/>
          <p:nvPr/>
        </p:nvSpPr>
        <p:spPr>
          <a:xfrm>
            <a:off x="548640" y="6446520"/>
            <a:ext cx="11091672"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6E73"/>
              </a:buClr>
              <a:buSzPts val="950"/>
              <a:buFont typeface="JetBrains Mono"/>
              <a:buNone/>
            </a:pPr>
            <a:r>
              <a:rPr lang="en-US" sz="950" u="sng">
                <a:solidFill>
                  <a:schemeClr val="hlink"/>
                </a:solidFill>
                <a:latin typeface="JetBrains Mono"/>
                <a:ea typeface="JetBrains Mono"/>
                <a:cs typeface="JetBrains Mono"/>
                <a:sym typeface="JetBrains Mono"/>
                <a:hlinkClick r:id="rId3"/>
              </a:rPr>
              <a:t>https://lxp-three.vercel.app/</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128" name="Shape 128"/>
        <p:cNvGrpSpPr/>
        <p:nvPr/>
      </p:nvGrpSpPr>
      <p:grpSpPr>
        <a:xfrm>
          <a:off x="0" y="0"/>
          <a:ext cx="0" cy="0"/>
          <a:chOff x="0" y="0"/>
          <a:chExt cx="0" cy="0"/>
        </a:xfrm>
      </p:grpSpPr>
      <p:sp>
        <p:nvSpPr>
          <p:cNvPr id="129" name="Google Shape;129;p5"/>
          <p:cNvSpPr/>
          <p:nvPr/>
        </p:nvSpPr>
        <p:spPr>
          <a:xfrm>
            <a:off x="548640" y="41148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E73"/>
              </a:buClr>
              <a:buSzPts val="1100"/>
              <a:buFont typeface="JetBrains Mono"/>
              <a:buNone/>
            </a:pPr>
            <a:r>
              <a:rPr b="0" i="0" lang="en-US" sz="1100" u="none" cap="none" strike="noStrike">
                <a:solidFill>
                  <a:srgbClr val="6E6E73"/>
                </a:solidFill>
                <a:latin typeface="JetBrains Mono"/>
                <a:ea typeface="JetBrains Mono"/>
                <a:cs typeface="JetBrains Mono"/>
                <a:sym typeface="JetBrains Mono"/>
              </a:rPr>
              <a:t># DEMO VIDEO</a:t>
            </a:r>
            <a:endParaRPr b="0" i="0" sz="1100" u="none" cap="none" strike="noStrike">
              <a:solidFill>
                <a:schemeClr val="dk1"/>
              </a:solidFill>
              <a:latin typeface="Calibri"/>
              <a:ea typeface="Calibri"/>
              <a:cs typeface="Calibri"/>
              <a:sym typeface="Calibri"/>
            </a:endParaRPr>
          </a:p>
        </p:txBody>
      </p:sp>
      <p:sp>
        <p:nvSpPr>
          <p:cNvPr id="130" name="Google Shape;130;p5"/>
          <p:cNvSpPr/>
          <p:nvPr/>
        </p:nvSpPr>
        <p:spPr>
          <a:xfrm>
            <a:off x="548640" y="731520"/>
            <a:ext cx="1109167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F2F5"/>
              </a:buClr>
              <a:buSzPts val="2700"/>
              <a:buFont typeface="Fraunces"/>
              <a:buNone/>
            </a:pPr>
            <a:r>
              <a:rPr b="0" i="1" lang="en-US" sz="2700" u="none" cap="none" strike="noStrike">
                <a:solidFill>
                  <a:srgbClr val="F2F2F5"/>
                </a:solidFill>
                <a:latin typeface="Fraunces"/>
                <a:ea typeface="Fraunces"/>
                <a:cs typeface="Fraunces"/>
                <a:sym typeface="Fraunces"/>
              </a:rPr>
              <a:t>시연 영상</a:t>
            </a:r>
            <a:endParaRPr b="0" i="0" sz="2700" u="none" cap="none" strike="noStrike">
              <a:solidFill>
                <a:schemeClr val="dk1"/>
              </a:solidFill>
              <a:latin typeface="Calibri"/>
              <a:ea typeface="Calibri"/>
              <a:cs typeface="Calibri"/>
              <a:sym typeface="Calibri"/>
            </a:endParaRPr>
          </a:p>
        </p:txBody>
      </p:sp>
      <p:sp>
        <p:nvSpPr>
          <p:cNvPr id="131" name="Google Shape;131;p5"/>
          <p:cNvSpPr/>
          <p:nvPr/>
        </p:nvSpPr>
        <p:spPr>
          <a:xfrm>
            <a:off x="2441448" y="1691640"/>
            <a:ext cx="7315200" cy="4023360"/>
          </a:xfrm>
          <a:prstGeom prst="roundRect">
            <a:avLst>
              <a:gd fmla="val 2273" name="adj"/>
            </a:avLst>
          </a:prstGeom>
          <a:solidFill>
            <a:srgbClr val="2A2A2C"/>
          </a:solidFill>
          <a:ln cap="flat" cmpd="sng" w="12700">
            <a:solidFill>
              <a:srgbClr val="3A3A3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p:nvPr/>
        </p:nvSpPr>
        <p:spPr>
          <a:xfrm>
            <a:off x="5641848" y="3017520"/>
            <a:ext cx="914400" cy="914400"/>
          </a:xfrm>
          <a:prstGeom prst="ellipse">
            <a:avLst/>
          </a:prstGeom>
          <a:solidFill>
            <a:srgbClr val="0A84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
          <p:cNvSpPr/>
          <p:nvPr/>
        </p:nvSpPr>
        <p:spPr>
          <a:xfrm rot="5400000">
            <a:off x="5934456" y="3246120"/>
            <a:ext cx="384048" cy="457200"/>
          </a:xfrm>
          <a:prstGeom prst="triangle">
            <a:avLst>
              <a:gd fmla="val 50000" name="adj"/>
            </a:avLst>
          </a:prstGeom>
          <a:solidFill>
            <a:srgbClr val="1E1E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
          <p:cNvSpPr/>
          <p:nvPr/>
        </p:nvSpPr>
        <p:spPr>
          <a:xfrm>
            <a:off x="2441448" y="4023360"/>
            <a:ext cx="73152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F2F5"/>
              </a:buClr>
              <a:buSzPts val="1300"/>
              <a:buFont typeface="JetBrains Mono"/>
              <a:buNone/>
            </a:pPr>
            <a:r>
              <a:rPr b="0" i="0" lang="en-US" sz="1300" u="none" cap="none" strike="noStrike">
                <a:solidFill>
                  <a:srgbClr val="F2F2F5"/>
                </a:solidFill>
                <a:latin typeface="JetBrains Mono"/>
                <a:ea typeface="JetBrains Mono"/>
                <a:cs typeface="JetBrains Mono"/>
                <a:sym typeface="JetBrains Mono"/>
              </a:rPr>
              <a:t>docs/video/demo-final.mp4</a:t>
            </a:r>
            <a:endParaRPr b="0" i="0" sz="1300" u="none" cap="none" strike="noStrike">
              <a:solidFill>
                <a:schemeClr val="dk1"/>
              </a:solidFill>
              <a:latin typeface="Calibri"/>
              <a:ea typeface="Calibri"/>
              <a:cs typeface="Calibri"/>
              <a:sym typeface="Calibri"/>
            </a:endParaRPr>
          </a:p>
        </p:txBody>
      </p:sp>
      <p:sp>
        <p:nvSpPr>
          <p:cNvPr id="135" name="Google Shape;135;p5"/>
          <p:cNvSpPr/>
          <p:nvPr/>
        </p:nvSpPr>
        <p:spPr>
          <a:xfrm>
            <a:off x="2441448" y="4389120"/>
            <a:ext cx="73152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8989D"/>
              </a:buClr>
              <a:buSzPts val="1100"/>
              <a:buFont typeface="Instrument Sans"/>
              <a:buNone/>
            </a:pPr>
            <a:r>
              <a:rPr b="0" i="0" lang="en-US" sz="1100" u="none" cap="none" strike="noStrike">
                <a:solidFill>
                  <a:srgbClr val="98989D"/>
                </a:solidFill>
                <a:latin typeface="Instrument Sans"/>
                <a:ea typeface="Instrument Sans"/>
                <a:cs typeface="Instrument Sans"/>
                <a:sym typeface="Instrument Sans"/>
              </a:rPr>
              <a:t>Google Slides: 삽입 → 동영상 → Drive에서 선택 후 이 영역 크기에 맞춰 배치</a:t>
            </a:r>
            <a:endParaRPr b="0" i="0" sz="1100" u="none" cap="none" strike="noStrike">
              <a:solidFill>
                <a:schemeClr val="dk1"/>
              </a:solidFill>
              <a:latin typeface="Calibri"/>
              <a:ea typeface="Calibri"/>
              <a:cs typeface="Calibri"/>
              <a:sym typeface="Calibri"/>
            </a:endParaRPr>
          </a:p>
        </p:txBody>
      </p:sp>
      <p:pic>
        <p:nvPicPr>
          <p:cNvPr id="136" name="Google Shape;136;p5" title="demo-final.mp4">
            <a:hlinkClick r:id="rId3"/>
          </p:cNvPr>
          <p:cNvPicPr preferRelativeResize="0"/>
          <p:nvPr/>
        </p:nvPicPr>
        <p:blipFill>
          <a:blip r:embed="rId4">
            <a:alphaModFix/>
          </a:blip>
          <a:stretch>
            <a:fillRect/>
          </a:stretch>
        </p:blipFill>
        <p:spPr>
          <a:xfrm>
            <a:off x="2436876" y="960132"/>
            <a:ext cx="7315200" cy="548639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gtEl>
                                        <p:attrNameLst>
                                          <p:attrName>style.visibility</p:attrName>
                                        </p:attrNameLst>
                                      </p:cBhvr>
                                      <p:to>
                                        <p:strVal val="visible"/>
                                      </p:to>
                                    </p:set>
                                    <p:animEffect filter="fade" transition="in">
                                      <p:cBhvr>
                                        <p:cTn dur="1000"/>
                                        <p:tgtEl>
                                          <p:spTgt spid="1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141" name="Shape 141"/>
        <p:cNvGrpSpPr/>
        <p:nvPr/>
      </p:nvGrpSpPr>
      <p:grpSpPr>
        <a:xfrm>
          <a:off x="0" y="0"/>
          <a:ext cx="0" cy="0"/>
          <a:chOff x="0" y="0"/>
          <a:chExt cx="0" cy="0"/>
        </a:xfrm>
      </p:grpSpPr>
      <p:sp>
        <p:nvSpPr>
          <p:cNvPr id="142" name="Google Shape;142;p6"/>
          <p:cNvSpPr/>
          <p:nvPr/>
        </p:nvSpPr>
        <p:spPr>
          <a:xfrm>
            <a:off x="548640" y="41148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E73"/>
              </a:buClr>
              <a:buSzPts val="1100"/>
              <a:buFont typeface="JetBrains Mono"/>
              <a:buNone/>
            </a:pPr>
            <a:r>
              <a:rPr b="0" i="0" lang="en-US" sz="1100" u="none" cap="none" strike="noStrike">
                <a:solidFill>
                  <a:srgbClr val="6E6E73"/>
                </a:solidFill>
                <a:latin typeface="JetBrains Mono"/>
                <a:ea typeface="JetBrains Mono"/>
                <a:cs typeface="JetBrains Mono"/>
                <a:sym typeface="JetBrains Mono"/>
              </a:rPr>
              <a:t># S3 · SETUP DECISIONS</a:t>
            </a:r>
            <a:endParaRPr b="0" i="0" sz="1100" u="none" cap="none" strike="noStrike">
              <a:solidFill>
                <a:schemeClr val="dk1"/>
              </a:solidFill>
              <a:latin typeface="Calibri"/>
              <a:ea typeface="Calibri"/>
              <a:cs typeface="Calibri"/>
              <a:sym typeface="Calibri"/>
            </a:endParaRPr>
          </a:p>
        </p:txBody>
      </p:sp>
      <p:sp>
        <p:nvSpPr>
          <p:cNvPr id="143" name="Google Shape;143;p6"/>
          <p:cNvSpPr/>
          <p:nvPr/>
        </p:nvSpPr>
        <p:spPr>
          <a:xfrm>
            <a:off x="7068312" y="411480"/>
            <a:ext cx="45720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6E73"/>
              </a:buClr>
              <a:buSzPts val="1100"/>
              <a:buFont typeface="JetBrains Mono"/>
              <a:buNone/>
            </a:pPr>
            <a:r>
              <a:rPr b="0" i="0" lang="en-US" sz="1100" u="none" cap="none" strike="noStrike">
                <a:solidFill>
                  <a:srgbClr val="6E6E73"/>
                </a:solidFill>
                <a:latin typeface="JetBrains Mono"/>
                <a:ea typeface="JetBrains Mono"/>
                <a:cs typeface="JetBrains Mono"/>
                <a:sym typeface="JetBrains Mono"/>
              </a:rPr>
              <a:t>2:20 – 2:55</a:t>
            </a:r>
            <a:endParaRPr b="0" i="0" sz="1100" u="none" cap="none" strike="noStrike">
              <a:solidFill>
                <a:schemeClr val="dk1"/>
              </a:solidFill>
              <a:latin typeface="Calibri"/>
              <a:ea typeface="Calibri"/>
              <a:cs typeface="Calibri"/>
              <a:sym typeface="Calibri"/>
            </a:endParaRPr>
          </a:p>
        </p:txBody>
      </p:sp>
      <p:sp>
        <p:nvSpPr>
          <p:cNvPr id="144" name="Google Shape;144;p6"/>
          <p:cNvSpPr/>
          <p:nvPr/>
        </p:nvSpPr>
        <p:spPr>
          <a:xfrm>
            <a:off x="548640" y="731520"/>
            <a:ext cx="1109167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F2F5"/>
              </a:buClr>
              <a:buSzPts val="2700"/>
              <a:buFont typeface="Fraunces"/>
              <a:buNone/>
            </a:pPr>
            <a:r>
              <a:rPr b="0" i="1" lang="en-US" sz="2700" u="none" cap="none" strike="noStrike">
                <a:solidFill>
                  <a:srgbClr val="F2F2F5"/>
                </a:solidFill>
                <a:latin typeface="Fraunces"/>
                <a:ea typeface="Fraunces"/>
                <a:cs typeface="Fraunces"/>
                <a:sym typeface="Fraunces"/>
              </a:rPr>
              <a:t>사용 기술 및 선정 이유</a:t>
            </a:r>
            <a:endParaRPr b="0" i="0" sz="2700" u="none" cap="none" strike="noStrike">
              <a:solidFill>
                <a:schemeClr val="dk1"/>
              </a:solidFill>
              <a:latin typeface="Calibri"/>
              <a:ea typeface="Calibri"/>
              <a:cs typeface="Calibri"/>
              <a:sym typeface="Calibri"/>
            </a:endParaRPr>
          </a:p>
        </p:txBody>
      </p:sp>
      <p:sp>
        <p:nvSpPr>
          <p:cNvPr id="145" name="Google Shape;145;p6"/>
          <p:cNvSpPr/>
          <p:nvPr/>
        </p:nvSpPr>
        <p:spPr>
          <a:xfrm>
            <a:off x="548640" y="1353312"/>
            <a:ext cx="1109167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8989D"/>
              </a:buClr>
              <a:buSzPts val="1350"/>
              <a:buFont typeface="Instrument Sans"/>
              <a:buNone/>
            </a:pPr>
            <a:r>
              <a:rPr b="0" i="0" lang="en-US" sz="1350" u="none" cap="none" strike="noStrike">
                <a:solidFill>
                  <a:srgbClr val="98989D"/>
                </a:solidFill>
                <a:latin typeface="Instrument Sans"/>
                <a:ea typeface="Instrument Sans"/>
                <a:cs typeface="Instrument Sans"/>
                <a:sym typeface="Instrument Sans"/>
              </a:rPr>
              <a:t>정해진 기간 안에 검증된 선택</a:t>
            </a:r>
            <a:endParaRPr b="0" i="0" sz="1350" u="none" cap="none" strike="noStrike">
              <a:solidFill>
                <a:schemeClr val="dk1"/>
              </a:solidFill>
              <a:latin typeface="Calibri"/>
              <a:ea typeface="Calibri"/>
              <a:cs typeface="Calibri"/>
              <a:sym typeface="Calibri"/>
            </a:endParaRPr>
          </a:p>
        </p:txBody>
      </p:sp>
      <p:sp>
        <p:nvSpPr>
          <p:cNvPr id="146" name="Google Shape;146;p6"/>
          <p:cNvSpPr/>
          <p:nvPr/>
        </p:nvSpPr>
        <p:spPr>
          <a:xfrm>
            <a:off x="548640" y="1965960"/>
            <a:ext cx="2013509" cy="3520440"/>
          </a:xfrm>
          <a:prstGeom prst="roundRect">
            <a:avLst>
              <a:gd fmla="val 3179" name="adj"/>
            </a:avLst>
          </a:prstGeom>
          <a:solidFill>
            <a:srgbClr val="2A2A2C"/>
          </a:solidFill>
          <a:ln cap="flat" cmpd="sng" w="9525">
            <a:solidFill>
              <a:srgbClr val="3A3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6"/>
          <p:cNvSpPr/>
          <p:nvPr/>
        </p:nvSpPr>
        <p:spPr>
          <a:xfrm>
            <a:off x="1345082" y="2167128"/>
            <a:ext cx="420624" cy="420624"/>
          </a:xfrm>
          <a:prstGeom prst="roundRect">
            <a:avLst>
              <a:gd fmla="val 10870" name="adj"/>
            </a:avLst>
          </a:prstGeom>
          <a:solidFill>
            <a:srgbClr val="161616"/>
          </a:solidFill>
          <a:ln cap="flat" cmpd="sng" w="9525">
            <a:solidFill>
              <a:srgbClr val="3A3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6"/>
          <p:cNvSpPr/>
          <p:nvPr/>
        </p:nvSpPr>
        <p:spPr>
          <a:xfrm>
            <a:off x="1207922" y="2167128"/>
            <a:ext cx="69494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84FF"/>
              </a:buClr>
              <a:buSzPts val="900"/>
              <a:buFont typeface="JetBrains Mono"/>
              <a:buNone/>
            </a:pPr>
            <a:r>
              <a:rPr b="1" i="0" lang="en-US" sz="900" u="none" cap="none" strike="noStrike">
                <a:solidFill>
                  <a:srgbClr val="0A84FF"/>
                </a:solidFill>
                <a:latin typeface="JetBrains Mono"/>
                <a:ea typeface="JetBrains Mono"/>
                <a:cs typeface="JetBrains Mono"/>
                <a:sym typeface="JetBrains Mono"/>
              </a:rPr>
              <a:t>APP</a:t>
            </a:r>
            <a:endParaRPr b="0" i="0" sz="900" u="none" cap="none" strike="noStrike">
              <a:solidFill>
                <a:schemeClr val="dk1"/>
              </a:solidFill>
              <a:latin typeface="Calibri"/>
              <a:ea typeface="Calibri"/>
              <a:cs typeface="Calibri"/>
              <a:sym typeface="Calibri"/>
            </a:endParaRPr>
          </a:p>
        </p:txBody>
      </p:sp>
      <p:sp>
        <p:nvSpPr>
          <p:cNvPr id="149" name="Google Shape;149;p6"/>
          <p:cNvSpPr/>
          <p:nvPr/>
        </p:nvSpPr>
        <p:spPr>
          <a:xfrm>
            <a:off x="603504" y="2642616"/>
            <a:ext cx="1903781"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A84FF"/>
              </a:buClr>
              <a:buSzPts val="900"/>
              <a:buFont typeface="JetBrains Mono"/>
              <a:buNone/>
            </a:pPr>
            <a:r>
              <a:rPr b="1" i="0" lang="en-US" sz="900" u="none" cap="none" strike="noStrike">
                <a:solidFill>
                  <a:srgbClr val="0A84FF"/>
                </a:solidFill>
                <a:latin typeface="JetBrains Mono"/>
                <a:ea typeface="JetBrains Mono"/>
                <a:cs typeface="JetBrains Mono"/>
                <a:sym typeface="JetBrains Mono"/>
              </a:rPr>
              <a:t>코어 프레임워크</a:t>
            </a:r>
            <a:endParaRPr b="0" i="0" sz="900" u="none" cap="none" strike="noStrike">
              <a:solidFill>
                <a:schemeClr val="dk1"/>
              </a:solidFill>
              <a:latin typeface="Calibri"/>
              <a:ea typeface="Calibri"/>
              <a:cs typeface="Calibri"/>
              <a:sym typeface="Calibri"/>
            </a:endParaRPr>
          </a:p>
        </p:txBody>
      </p:sp>
      <p:sp>
        <p:nvSpPr>
          <p:cNvPr id="150" name="Google Shape;150;p6"/>
          <p:cNvSpPr/>
          <p:nvPr/>
        </p:nvSpPr>
        <p:spPr>
          <a:xfrm>
            <a:off x="621792" y="2935224"/>
            <a:ext cx="1867205"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2F2F5"/>
              </a:buClr>
              <a:buSzPts val="1300"/>
              <a:buFont typeface="Instrument Sans"/>
              <a:buNone/>
            </a:pPr>
            <a:r>
              <a:rPr b="1" i="0" lang="en-US" sz="1300" u="none" cap="none" strike="noStrike">
                <a:solidFill>
                  <a:srgbClr val="F2F2F5"/>
                </a:solidFill>
                <a:latin typeface="Instrument Sans"/>
                <a:ea typeface="Instrument Sans"/>
                <a:cs typeface="Instrument Sans"/>
                <a:sym typeface="Instrument Sans"/>
              </a:rPr>
              <a:t>Next.js</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2F2F5"/>
              </a:buClr>
              <a:buSzPts val="1300"/>
              <a:buFont typeface="Instrument Sans"/>
              <a:buNone/>
            </a:pPr>
            <a:r>
              <a:rPr b="1" i="0" lang="en-US" sz="1300" u="none" cap="none" strike="noStrike">
                <a:solidFill>
                  <a:srgbClr val="F2F2F5"/>
                </a:solidFill>
                <a:latin typeface="Instrument Sans"/>
                <a:ea typeface="Instrument Sans"/>
                <a:cs typeface="Instrument Sans"/>
                <a:sym typeface="Instrument Sans"/>
              </a:rPr>
              <a:t>(App Router)</a:t>
            </a:r>
            <a:endParaRPr b="0" i="0" sz="1300" u="none" cap="none" strike="noStrike">
              <a:solidFill>
                <a:schemeClr val="dk1"/>
              </a:solidFill>
              <a:latin typeface="Calibri"/>
              <a:ea typeface="Calibri"/>
              <a:cs typeface="Calibri"/>
              <a:sym typeface="Calibri"/>
            </a:endParaRPr>
          </a:p>
        </p:txBody>
      </p:sp>
      <p:sp>
        <p:nvSpPr>
          <p:cNvPr id="151" name="Google Shape;151;p6"/>
          <p:cNvSpPr/>
          <p:nvPr/>
        </p:nvSpPr>
        <p:spPr>
          <a:xfrm>
            <a:off x="676656" y="3538728"/>
            <a:ext cx="1757477" cy="173736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98989D"/>
              </a:buClr>
              <a:buSzPts val="950"/>
              <a:buFont typeface="Instrument Sans"/>
              <a:buNone/>
            </a:pPr>
            <a:r>
              <a:rPr b="0" i="0" lang="en-US" sz="950" u="none" cap="none" strike="noStrike">
                <a:solidFill>
                  <a:srgbClr val="98989D"/>
                </a:solidFill>
                <a:latin typeface="Instrument Sans"/>
                <a:ea typeface="Instrument Sans"/>
                <a:cs typeface="Instrument Sans"/>
                <a:sym typeface="Instrument Sans"/>
              </a:rPr>
              <a:t>화면과 서버를 하나로 묶어, </a:t>
            </a:r>
            <a:r>
              <a:rPr b="1" i="0" lang="en-US" sz="950" u="none" cap="none" strike="noStrike">
                <a:solidFill>
                  <a:srgbClr val="1E1E1E"/>
                </a:solidFill>
                <a:highlight>
                  <a:srgbClr val="FFD60A"/>
                </a:highlight>
                <a:latin typeface="Instrument Sans"/>
                <a:ea typeface="Instrument Sans"/>
                <a:cs typeface="Instrument Sans"/>
                <a:sym typeface="Instrument Sans"/>
              </a:rPr>
              <a:t>API 키를 서버에서만</a:t>
            </a:r>
            <a:r>
              <a:rPr b="0" i="0" lang="en-US" sz="950" u="none" cap="none" strike="noStrike">
                <a:solidFill>
                  <a:srgbClr val="98989D"/>
                </a:solidFill>
                <a:latin typeface="Instrument Sans"/>
                <a:ea typeface="Instrument Sans"/>
                <a:cs typeface="Instrument Sans"/>
                <a:sym typeface="Instrument Sans"/>
              </a:rPr>
              <a:t> 다루게 해주는 뼈대</a:t>
            </a:r>
            <a:endParaRPr b="0" i="0" sz="950" u="none" cap="none" strike="noStrike">
              <a:solidFill>
                <a:schemeClr val="dk1"/>
              </a:solidFill>
              <a:latin typeface="Calibri"/>
              <a:ea typeface="Calibri"/>
              <a:cs typeface="Calibri"/>
              <a:sym typeface="Calibri"/>
            </a:endParaRPr>
          </a:p>
        </p:txBody>
      </p:sp>
      <p:sp>
        <p:nvSpPr>
          <p:cNvPr id="152" name="Google Shape;152;p6"/>
          <p:cNvSpPr/>
          <p:nvPr/>
        </p:nvSpPr>
        <p:spPr>
          <a:xfrm>
            <a:off x="2818181" y="1965960"/>
            <a:ext cx="2013509" cy="3520440"/>
          </a:xfrm>
          <a:prstGeom prst="roundRect">
            <a:avLst>
              <a:gd fmla="val 3179" name="adj"/>
            </a:avLst>
          </a:prstGeom>
          <a:solidFill>
            <a:srgbClr val="2A2A2C"/>
          </a:solidFill>
          <a:ln cap="flat" cmpd="sng" w="9525">
            <a:solidFill>
              <a:srgbClr val="3A3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6"/>
          <p:cNvSpPr/>
          <p:nvPr/>
        </p:nvSpPr>
        <p:spPr>
          <a:xfrm>
            <a:off x="3614623" y="2167128"/>
            <a:ext cx="420624" cy="420624"/>
          </a:xfrm>
          <a:prstGeom prst="roundRect">
            <a:avLst>
              <a:gd fmla="val 10870" name="adj"/>
            </a:avLst>
          </a:prstGeom>
          <a:solidFill>
            <a:srgbClr val="161616"/>
          </a:solidFill>
          <a:ln cap="flat" cmpd="sng" w="9525">
            <a:solidFill>
              <a:srgbClr val="3A3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6"/>
          <p:cNvSpPr/>
          <p:nvPr/>
        </p:nvSpPr>
        <p:spPr>
          <a:xfrm>
            <a:off x="3477463" y="2167128"/>
            <a:ext cx="69494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84FF"/>
              </a:buClr>
              <a:buSzPts val="900"/>
              <a:buFont typeface="JetBrains Mono"/>
              <a:buNone/>
            </a:pPr>
            <a:r>
              <a:rPr b="1" i="0" lang="en-US" sz="900" u="none" cap="none" strike="noStrike">
                <a:solidFill>
                  <a:srgbClr val="0A84FF"/>
                </a:solidFill>
                <a:latin typeface="JetBrains Mono"/>
                <a:ea typeface="JetBrains Mono"/>
                <a:cs typeface="JetBrains Mono"/>
                <a:sym typeface="JetBrains Mono"/>
              </a:rPr>
              <a:t>RUN</a:t>
            </a:r>
            <a:endParaRPr b="0" i="0" sz="900" u="none" cap="none" strike="noStrike">
              <a:solidFill>
                <a:schemeClr val="dk1"/>
              </a:solidFill>
              <a:latin typeface="Calibri"/>
              <a:ea typeface="Calibri"/>
              <a:cs typeface="Calibri"/>
              <a:sym typeface="Calibri"/>
            </a:endParaRPr>
          </a:p>
        </p:txBody>
      </p:sp>
      <p:sp>
        <p:nvSpPr>
          <p:cNvPr id="155" name="Google Shape;155;p6"/>
          <p:cNvSpPr/>
          <p:nvPr/>
        </p:nvSpPr>
        <p:spPr>
          <a:xfrm>
            <a:off x="2873045" y="2642616"/>
            <a:ext cx="1903781"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A84FF"/>
              </a:buClr>
              <a:buSzPts val="900"/>
              <a:buFont typeface="JetBrains Mono"/>
              <a:buNone/>
            </a:pPr>
            <a:r>
              <a:rPr b="1" i="0" lang="en-US" sz="900" u="none" cap="none" strike="noStrike">
                <a:solidFill>
                  <a:srgbClr val="0A84FF"/>
                </a:solidFill>
                <a:latin typeface="JetBrains Mono"/>
                <a:ea typeface="JetBrains Mono"/>
                <a:cs typeface="JetBrains Mono"/>
                <a:sym typeface="JetBrains Mono"/>
              </a:rPr>
              <a:t>라이브 코딩 환경</a:t>
            </a:r>
            <a:endParaRPr b="0" i="0" sz="900" u="none" cap="none" strike="noStrike">
              <a:solidFill>
                <a:schemeClr val="dk1"/>
              </a:solidFill>
              <a:latin typeface="Calibri"/>
              <a:ea typeface="Calibri"/>
              <a:cs typeface="Calibri"/>
              <a:sym typeface="Calibri"/>
            </a:endParaRPr>
          </a:p>
        </p:txBody>
      </p:sp>
      <p:sp>
        <p:nvSpPr>
          <p:cNvPr id="156" name="Google Shape;156;p6"/>
          <p:cNvSpPr/>
          <p:nvPr/>
        </p:nvSpPr>
        <p:spPr>
          <a:xfrm>
            <a:off x="2891333" y="2935224"/>
            <a:ext cx="1867205"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2F2F5"/>
              </a:buClr>
              <a:buSzPts val="1300"/>
              <a:buFont typeface="Instrument Sans"/>
              <a:buNone/>
            </a:pPr>
            <a:r>
              <a:rPr b="1" i="0" lang="en-US" sz="1300" u="none" cap="none" strike="noStrike">
                <a:solidFill>
                  <a:srgbClr val="F2F2F5"/>
                </a:solidFill>
                <a:latin typeface="Instrument Sans"/>
                <a:ea typeface="Instrument Sans"/>
                <a:cs typeface="Instrument Sans"/>
                <a:sym typeface="Instrument Sans"/>
              </a:rPr>
              <a:t>Sandpack</a:t>
            </a:r>
            <a:endParaRPr b="0" i="0" sz="1300" u="none" cap="none" strike="noStrike">
              <a:solidFill>
                <a:schemeClr val="dk1"/>
              </a:solidFill>
              <a:latin typeface="Calibri"/>
              <a:ea typeface="Calibri"/>
              <a:cs typeface="Calibri"/>
              <a:sym typeface="Calibri"/>
            </a:endParaRPr>
          </a:p>
        </p:txBody>
      </p:sp>
      <p:sp>
        <p:nvSpPr>
          <p:cNvPr id="157" name="Google Shape;157;p6"/>
          <p:cNvSpPr/>
          <p:nvPr/>
        </p:nvSpPr>
        <p:spPr>
          <a:xfrm>
            <a:off x="2946197" y="3538728"/>
            <a:ext cx="1757477" cy="173736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98989D"/>
              </a:buClr>
              <a:buSzPts val="950"/>
              <a:buFont typeface="Instrument Sans"/>
              <a:buNone/>
            </a:pPr>
            <a:r>
              <a:rPr b="0" i="0" lang="en-US" sz="950" u="none" cap="none" strike="noStrike">
                <a:solidFill>
                  <a:srgbClr val="98989D"/>
                </a:solidFill>
                <a:latin typeface="Instrument Sans"/>
                <a:ea typeface="Instrument Sans"/>
                <a:cs typeface="Instrument Sans"/>
                <a:sym typeface="Instrument Sans"/>
              </a:rPr>
              <a:t>브라우저에서 코드를 바로 실행해보는 </a:t>
            </a:r>
            <a:r>
              <a:rPr b="1" i="0" lang="en-US" sz="950" u="none" cap="none" strike="noStrike">
                <a:solidFill>
                  <a:srgbClr val="1E1E1E"/>
                </a:solidFill>
                <a:highlight>
                  <a:srgbClr val="FFD60A"/>
                </a:highlight>
                <a:latin typeface="Instrument Sans"/>
                <a:ea typeface="Instrument Sans"/>
                <a:cs typeface="Instrument Sans"/>
                <a:sym typeface="Instrument Sans"/>
              </a:rPr>
              <a:t>검증된 실행 엔진</a:t>
            </a:r>
            <a:r>
              <a:rPr b="0" i="0" lang="en-US" sz="950" u="none" cap="none" strike="noStrike">
                <a:solidFill>
                  <a:srgbClr val="98989D"/>
                </a:solidFill>
                <a:latin typeface="Instrument Sans"/>
                <a:ea typeface="Instrument Sans"/>
                <a:cs typeface="Instrument Sans"/>
                <a:sym typeface="Instrument Sans"/>
              </a:rPr>
              <a:t> — 직접 안 만들고 가져다 씀</a:t>
            </a:r>
            <a:endParaRPr b="0" i="0" sz="950" u="none" cap="none" strike="noStrike">
              <a:solidFill>
                <a:schemeClr val="dk1"/>
              </a:solidFill>
              <a:latin typeface="Calibri"/>
              <a:ea typeface="Calibri"/>
              <a:cs typeface="Calibri"/>
              <a:sym typeface="Calibri"/>
            </a:endParaRPr>
          </a:p>
        </p:txBody>
      </p:sp>
      <p:sp>
        <p:nvSpPr>
          <p:cNvPr id="158" name="Google Shape;158;p6"/>
          <p:cNvSpPr/>
          <p:nvPr/>
        </p:nvSpPr>
        <p:spPr>
          <a:xfrm>
            <a:off x="5087722" y="1965960"/>
            <a:ext cx="2013509" cy="3520440"/>
          </a:xfrm>
          <a:prstGeom prst="roundRect">
            <a:avLst>
              <a:gd fmla="val 3179" name="adj"/>
            </a:avLst>
          </a:prstGeom>
          <a:solidFill>
            <a:srgbClr val="2A2A2C"/>
          </a:solidFill>
          <a:ln cap="flat" cmpd="sng" w="9525">
            <a:solidFill>
              <a:srgbClr val="3A3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6"/>
          <p:cNvSpPr/>
          <p:nvPr/>
        </p:nvSpPr>
        <p:spPr>
          <a:xfrm>
            <a:off x="5884164" y="2167128"/>
            <a:ext cx="420624" cy="420624"/>
          </a:xfrm>
          <a:prstGeom prst="roundRect">
            <a:avLst>
              <a:gd fmla="val 10870" name="adj"/>
            </a:avLst>
          </a:prstGeom>
          <a:solidFill>
            <a:srgbClr val="161616"/>
          </a:solidFill>
          <a:ln cap="flat" cmpd="sng" w="9525">
            <a:solidFill>
              <a:srgbClr val="3A3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6"/>
          <p:cNvSpPr/>
          <p:nvPr/>
        </p:nvSpPr>
        <p:spPr>
          <a:xfrm>
            <a:off x="5747004" y="2167128"/>
            <a:ext cx="69494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84FF"/>
              </a:buClr>
              <a:buSzPts val="900"/>
              <a:buFont typeface="JetBrains Mono"/>
              <a:buNone/>
            </a:pPr>
            <a:r>
              <a:rPr b="1" i="0" lang="en-US" sz="900" u="none" cap="none" strike="noStrike">
                <a:solidFill>
                  <a:srgbClr val="0A84FF"/>
                </a:solidFill>
                <a:latin typeface="JetBrains Mono"/>
                <a:ea typeface="JetBrains Mono"/>
                <a:cs typeface="JetBrains Mono"/>
                <a:sym typeface="JetBrains Mono"/>
              </a:rPr>
              <a:t>AI</a:t>
            </a:r>
            <a:endParaRPr b="0" i="0" sz="900" u="none" cap="none" strike="noStrike">
              <a:solidFill>
                <a:schemeClr val="dk1"/>
              </a:solidFill>
              <a:latin typeface="Calibri"/>
              <a:ea typeface="Calibri"/>
              <a:cs typeface="Calibri"/>
              <a:sym typeface="Calibri"/>
            </a:endParaRPr>
          </a:p>
        </p:txBody>
      </p:sp>
      <p:sp>
        <p:nvSpPr>
          <p:cNvPr id="161" name="Google Shape;161;p6"/>
          <p:cNvSpPr/>
          <p:nvPr/>
        </p:nvSpPr>
        <p:spPr>
          <a:xfrm>
            <a:off x="5142586" y="2642616"/>
            <a:ext cx="1903781"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A84FF"/>
              </a:buClr>
              <a:buSzPts val="900"/>
              <a:buFont typeface="JetBrains Mono"/>
              <a:buNone/>
            </a:pPr>
            <a:r>
              <a:rPr b="1" i="0" lang="en-US" sz="900" u="none" cap="none" strike="noStrike">
                <a:solidFill>
                  <a:srgbClr val="0A84FF"/>
                </a:solidFill>
                <a:latin typeface="JetBrains Mono"/>
                <a:ea typeface="JetBrains Mono"/>
                <a:cs typeface="JetBrains Mono"/>
                <a:sym typeface="JetBrains Mono"/>
              </a:rPr>
              <a:t>AI 생성 엔진</a:t>
            </a:r>
            <a:endParaRPr b="0" i="0" sz="900" u="none" cap="none" strike="noStrike">
              <a:solidFill>
                <a:schemeClr val="dk1"/>
              </a:solidFill>
              <a:latin typeface="Calibri"/>
              <a:ea typeface="Calibri"/>
              <a:cs typeface="Calibri"/>
              <a:sym typeface="Calibri"/>
            </a:endParaRPr>
          </a:p>
        </p:txBody>
      </p:sp>
      <p:sp>
        <p:nvSpPr>
          <p:cNvPr id="162" name="Google Shape;162;p6"/>
          <p:cNvSpPr/>
          <p:nvPr/>
        </p:nvSpPr>
        <p:spPr>
          <a:xfrm>
            <a:off x="5160874" y="2935224"/>
            <a:ext cx="1867205"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2F2F5"/>
              </a:buClr>
              <a:buSzPts val="1300"/>
              <a:buFont typeface="Instrument Sans"/>
              <a:buNone/>
            </a:pPr>
            <a:r>
              <a:rPr b="1" i="0" lang="en-US" sz="1300" u="none" cap="none" strike="noStrike">
                <a:solidFill>
                  <a:srgbClr val="F2F2F5"/>
                </a:solidFill>
                <a:latin typeface="Instrument Sans"/>
                <a:ea typeface="Instrument Sans"/>
                <a:cs typeface="Instrument Sans"/>
                <a:sym typeface="Instrument Sans"/>
              </a:rPr>
              <a:t>Gemini +</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2F2F5"/>
              </a:buClr>
              <a:buSzPts val="1300"/>
              <a:buFont typeface="Instrument Sans"/>
              <a:buNone/>
            </a:pPr>
            <a:r>
              <a:rPr b="1" i="0" lang="en-US" sz="1300" u="none" cap="none" strike="noStrike">
                <a:solidFill>
                  <a:srgbClr val="F2F2F5"/>
                </a:solidFill>
                <a:latin typeface="Instrument Sans"/>
                <a:ea typeface="Instrument Sans"/>
                <a:cs typeface="Instrument Sans"/>
                <a:sym typeface="Instrument Sans"/>
              </a:rPr>
              <a:t>Vercel AI SDK</a:t>
            </a:r>
            <a:endParaRPr b="0" i="0" sz="1300" u="none" cap="none" strike="noStrike">
              <a:solidFill>
                <a:schemeClr val="dk1"/>
              </a:solidFill>
              <a:latin typeface="Calibri"/>
              <a:ea typeface="Calibri"/>
              <a:cs typeface="Calibri"/>
              <a:sym typeface="Calibri"/>
            </a:endParaRPr>
          </a:p>
        </p:txBody>
      </p:sp>
      <p:sp>
        <p:nvSpPr>
          <p:cNvPr id="163" name="Google Shape;163;p6"/>
          <p:cNvSpPr/>
          <p:nvPr/>
        </p:nvSpPr>
        <p:spPr>
          <a:xfrm>
            <a:off x="5215738" y="3538728"/>
            <a:ext cx="1757477" cy="173736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98989D"/>
              </a:buClr>
              <a:buSzPts val="950"/>
              <a:buFont typeface="Instrument Sans"/>
              <a:buNone/>
            </a:pPr>
            <a:r>
              <a:rPr b="0" i="0" lang="en-US" sz="950" u="none" cap="none" strike="noStrike">
                <a:solidFill>
                  <a:srgbClr val="98989D"/>
                </a:solidFill>
                <a:latin typeface="Instrument Sans"/>
                <a:ea typeface="Instrument Sans"/>
                <a:cs typeface="Instrument Sans"/>
                <a:sym typeface="Instrument Sans"/>
              </a:rPr>
              <a:t>구글 AI(Gemini)가 실습을 만들고, </a:t>
            </a:r>
            <a:r>
              <a:rPr b="1" i="0" lang="en-US" sz="950" u="none" cap="none" strike="noStrike">
                <a:solidFill>
                  <a:srgbClr val="1E1E1E"/>
                </a:solidFill>
                <a:highlight>
                  <a:srgbClr val="FFD60A"/>
                </a:highlight>
                <a:latin typeface="Instrument Sans"/>
                <a:ea typeface="Instrument Sans"/>
                <a:cs typeface="Instrument Sans"/>
                <a:sym typeface="Instrument Sans"/>
              </a:rPr>
              <a:t>무료로 빠르게 검증</a:t>
            </a:r>
            <a:r>
              <a:rPr b="0" i="0" lang="en-US" sz="950" u="none" cap="none" strike="noStrike">
                <a:solidFill>
                  <a:srgbClr val="98989D"/>
                </a:solidFill>
                <a:latin typeface="Instrument Sans"/>
                <a:ea typeface="Instrument Sans"/>
                <a:cs typeface="Instrument Sans"/>
                <a:sym typeface="Instrument Sans"/>
              </a:rPr>
              <a:t>할 수 있어 선택</a:t>
            </a:r>
            <a:endParaRPr b="0" i="0" sz="950" u="none" cap="none" strike="noStrike">
              <a:solidFill>
                <a:schemeClr val="dk1"/>
              </a:solidFill>
              <a:latin typeface="Calibri"/>
              <a:ea typeface="Calibri"/>
              <a:cs typeface="Calibri"/>
              <a:sym typeface="Calibri"/>
            </a:endParaRPr>
          </a:p>
        </p:txBody>
      </p:sp>
      <p:sp>
        <p:nvSpPr>
          <p:cNvPr id="164" name="Google Shape;164;p6"/>
          <p:cNvSpPr/>
          <p:nvPr/>
        </p:nvSpPr>
        <p:spPr>
          <a:xfrm>
            <a:off x="7357262" y="1965960"/>
            <a:ext cx="2013509" cy="3520440"/>
          </a:xfrm>
          <a:prstGeom prst="roundRect">
            <a:avLst>
              <a:gd fmla="val 3179" name="adj"/>
            </a:avLst>
          </a:prstGeom>
          <a:solidFill>
            <a:srgbClr val="2A2A2C"/>
          </a:solidFill>
          <a:ln cap="flat" cmpd="sng" w="9525">
            <a:solidFill>
              <a:srgbClr val="3A3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6"/>
          <p:cNvSpPr/>
          <p:nvPr/>
        </p:nvSpPr>
        <p:spPr>
          <a:xfrm>
            <a:off x="8153705" y="2167128"/>
            <a:ext cx="420624" cy="420624"/>
          </a:xfrm>
          <a:prstGeom prst="roundRect">
            <a:avLst>
              <a:gd fmla="val 10870" name="adj"/>
            </a:avLst>
          </a:prstGeom>
          <a:solidFill>
            <a:srgbClr val="161616"/>
          </a:solidFill>
          <a:ln cap="flat" cmpd="sng" w="9525">
            <a:solidFill>
              <a:srgbClr val="3A3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6"/>
          <p:cNvSpPr/>
          <p:nvPr/>
        </p:nvSpPr>
        <p:spPr>
          <a:xfrm>
            <a:off x="8016545" y="2167128"/>
            <a:ext cx="69494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84FF"/>
              </a:buClr>
              <a:buSzPts val="900"/>
              <a:buFont typeface="JetBrains Mono"/>
              <a:buNone/>
            </a:pPr>
            <a:r>
              <a:rPr b="1" i="0" lang="en-US" sz="900" u="none" cap="none" strike="noStrike">
                <a:solidFill>
                  <a:srgbClr val="0A84FF"/>
                </a:solidFill>
                <a:latin typeface="JetBrains Mono"/>
                <a:ea typeface="JetBrains Mono"/>
                <a:cs typeface="JetBrains Mono"/>
                <a:sym typeface="JetBrains Mono"/>
              </a:rPr>
              <a:t>STATE</a:t>
            </a:r>
            <a:endParaRPr b="0" i="0" sz="900" u="none" cap="none" strike="noStrike">
              <a:solidFill>
                <a:schemeClr val="dk1"/>
              </a:solidFill>
              <a:latin typeface="Calibri"/>
              <a:ea typeface="Calibri"/>
              <a:cs typeface="Calibri"/>
              <a:sym typeface="Calibri"/>
            </a:endParaRPr>
          </a:p>
        </p:txBody>
      </p:sp>
      <p:sp>
        <p:nvSpPr>
          <p:cNvPr id="167" name="Google Shape;167;p6"/>
          <p:cNvSpPr/>
          <p:nvPr/>
        </p:nvSpPr>
        <p:spPr>
          <a:xfrm>
            <a:off x="7412126" y="2642616"/>
            <a:ext cx="1903781"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A84FF"/>
              </a:buClr>
              <a:buSzPts val="900"/>
              <a:buFont typeface="JetBrains Mono"/>
              <a:buNone/>
            </a:pPr>
            <a:r>
              <a:rPr b="1" i="0" lang="en-US" sz="900" u="none" cap="none" strike="noStrike">
                <a:solidFill>
                  <a:srgbClr val="0A84FF"/>
                </a:solidFill>
                <a:latin typeface="JetBrains Mono"/>
                <a:ea typeface="JetBrains Mono"/>
                <a:cs typeface="JetBrains Mono"/>
                <a:sym typeface="JetBrains Mono"/>
              </a:rPr>
              <a:t>상태 관리</a:t>
            </a:r>
            <a:endParaRPr b="0" i="0" sz="900" u="none" cap="none" strike="noStrike">
              <a:solidFill>
                <a:schemeClr val="dk1"/>
              </a:solidFill>
              <a:latin typeface="Calibri"/>
              <a:ea typeface="Calibri"/>
              <a:cs typeface="Calibri"/>
              <a:sym typeface="Calibri"/>
            </a:endParaRPr>
          </a:p>
        </p:txBody>
      </p:sp>
      <p:sp>
        <p:nvSpPr>
          <p:cNvPr id="168" name="Google Shape;168;p6"/>
          <p:cNvSpPr/>
          <p:nvPr/>
        </p:nvSpPr>
        <p:spPr>
          <a:xfrm>
            <a:off x="7430414" y="2935224"/>
            <a:ext cx="1867205"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2F2F5"/>
              </a:buClr>
              <a:buSzPts val="1300"/>
              <a:buFont typeface="Instrument Sans"/>
              <a:buNone/>
            </a:pPr>
            <a:r>
              <a:rPr b="1" i="0" lang="en-US" sz="1300" u="none" cap="none" strike="noStrike">
                <a:solidFill>
                  <a:srgbClr val="F2F2F5"/>
                </a:solidFill>
                <a:latin typeface="Instrument Sans"/>
                <a:ea typeface="Instrument Sans"/>
                <a:cs typeface="Instrument Sans"/>
                <a:sym typeface="Instrument Sans"/>
              </a:rPr>
              <a:t>Zustand</a:t>
            </a:r>
            <a:endParaRPr b="0" i="0" sz="1300" u="none" cap="none" strike="noStrike">
              <a:solidFill>
                <a:schemeClr val="dk1"/>
              </a:solidFill>
              <a:latin typeface="Calibri"/>
              <a:ea typeface="Calibri"/>
              <a:cs typeface="Calibri"/>
              <a:sym typeface="Calibri"/>
            </a:endParaRPr>
          </a:p>
        </p:txBody>
      </p:sp>
      <p:sp>
        <p:nvSpPr>
          <p:cNvPr id="169" name="Google Shape;169;p6"/>
          <p:cNvSpPr/>
          <p:nvPr/>
        </p:nvSpPr>
        <p:spPr>
          <a:xfrm>
            <a:off x="7485278" y="3538728"/>
            <a:ext cx="1757477" cy="173736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98989D"/>
              </a:buClr>
              <a:buSzPts val="950"/>
              <a:buFont typeface="Instrument Sans"/>
              <a:buNone/>
            </a:pPr>
            <a:r>
              <a:rPr b="0" i="0" lang="en-US" sz="950" u="none" cap="none" strike="noStrike">
                <a:solidFill>
                  <a:srgbClr val="98989D"/>
                </a:solidFill>
                <a:latin typeface="Instrument Sans"/>
                <a:ea typeface="Instrument Sans"/>
                <a:cs typeface="Instrument Sans"/>
                <a:sym typeface="Instrument Sans"/>
              </a:rPr>
              <a:t>AI 응답이 계속 바뀌어도 </a:t>
            </a:r>
            <a:r>
              <a:rPr b="1" i="0" lang="en-US" sz="950" u="none" cap="none" strike="noStrike">
                <a:solidFill>
                  <a:srgbClr val="1E1E1E"/>
                </a:solidFill>
                <a:highlight>
                  <a:srgbClr val="FFD60A"/>
                </a:highlight>
                <a:latin typeface="Instrument Sans"/>
                <a:ea typeface="Instrument Sans"/>
                <a:cs typeface="Instrument Sans"/>
                <a:sym typeface="Instrument Sans"/>
              </a:rPr>
              <a:t>불필요한 리렌더 없이</a:t>
            </a:r>
            <a:r>
              <a:rPr b="0" i="0" lang="en-US" sz="950" u="none" cap="none" strike="noStrike">
                <a:solidFill>
                  <a:srgbClr val="98989D"/>
                </a:solidFill>
                <a:latin typeface="Instrument Sans"/>
                <a:ea typeface="Instrument Sans"/>
                <a:cs typeface="Instrument Sans"/>
                <a:sym typeface="Instrument Sans"/>
              </a:rPr>
              <a:t> 화면만 업데이트</a:t>
            </a:r>
            <a:endParaRPr b="0" i="0" sz="950" u="none" cap="none" strike="noStrike">
              <a:solidFill>
                <a:schemeClr val="dk1"/>
              </a:solidFill>
              <a:latin typeface="Calibri"/>
              <a:ea typeface="Calibri"/>
              <a:cs typeface="Calibri"/>
              <a:sym typeface="Calibri"/>
            </a:endParaRPr>
          </a:p>
        </p:txBody>
      </p:sp>
      <p:sp>
        <p:nvSpPr>
          <p:cNvPr id="170" name="Google Shape;170;p6"/>
          <p:cNvSpPr/>
          <p:nvPr/>
        </p:nvSpPr>
        <p:spPr>
          <a:xfrm>
            <a:off x="9626803" y="1965960"/>
            <a:ext cx="2013509" cy="3520440"/>
          </a:xfrm>
          <a:prstGeom prst="roundRect">
            <a:avLst>
              <a:gd fmla="val 3179" name="adj"/>
            </a:avLst>
          </a:prstGeom>
          <a:solidFill>
            <a:srgbClr val="2A2A2C"/>
          </a:solidFill>
          <a:ln cap="flat" cmpd="sng" w="9525">
            <a:solidFill>
              <a:srgbClr val="3A3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6"/>
          <p:cNvSpPr/>
          <p:nvPr/>
        </p:nvSpPr>
        <p:spPr>
          <a:xfrm>
            <a:off x="10423246" y="2167128"/>
            <a:ext cx="420624" cy="420624"/>
          </a:xfrm>
          <a:prstGeom prst="roundRect">
            <a:avLst>
              <a:gd fmla="val 10870" name="adj"/>
            </a:avLst>
          </a:prstGeom>
          <a:solidFill>
            <a:srgbClr val="161616"/>
          </a:solidFill>
          <a:ln cap="flat" cmpd="sng" w="9525">
            <a:solidFill>
              <a:srgbClr val="3A3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6"/>
          <p:cNvSpPr/>
          <p:nvPr/>
        </p:nvSpPr>
        <p:spPr>
          <a:xfrm>
            <a:off x="10286086" y="2167128"/>
            <a:ext cx="69494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84FF"/>
              </a:buClr>
              <a:buSzPts val="900"/>
              <a:buFont typeface="JetBrains Mono"/>
              <a:buNone/>
            </a:pPr>
            <a:r>
              <a:rPr b="1" i="0" lang="en-US" sz="900" u="none" cap="none" strike="noStrike">
                <a:solidFill>
                  <a:srgbClr val="0A84FF"/>
                </a:solidFill>
                <a:latin typeface="JetBrains Mono"/>
                <a:ea typeface="JetBrains Mono"/>
                <a:cs typeface="JetBrains Mono"/>
                <a:sym typeface="JetBrains Mono"/>
              </a:rPr>
              <a:t>A11Y</a:t>
            </a:r>
            <a:endParaRPr b="0" i="0" sz="900" u="none" cap="none" strike="noStrike">
              <a:solidFill>
                <a:schemeClr val="dk1"/>
              </a:solidFill>
              <a:latin typeface="Calibri"/>
              <a:ea typeface="Calibri"/>
              <a:cs typeface="Calibri"/>
              <a:sym typeface="Calibri"/>
            </a:endParaRPr>
          </a:p>
        </p:txBody>
      </p:sp>
      <p:sp>
        <p:nvSpPr>
          <p:cNvPr id="173" name="Google Shape;173;p6"/>
          <p:cNvSpPr/>
          <p:nvPr/>
        </p:nvSpPr>
        <p:spPr>
          <a:xfrm>
            <a:off x="9681667" y="2642616"/>
            <a:ext cx="1903781"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A84FF"/>
              </a:buClr>
              <a:buSzPts val="900"/>
              <a:buFont typeface="JetBrains Mono"/>
              <a:buNone/>
            </a:pPr>
            <a:r>
              <a:rPr b="1" i="0" lang="en-US" sz="900" u="none" cap="none" strike="noStrike">
                <a:solidFill>
                  <a:srgbClr val="0A84FF"/>
                </a:solidFill>
                <a:latin typeface="JetBrains Mono"/>
                <a:ea typeface="JetBrains Mono"/>
                <a:cs typeface="JetBrains Mono"/>
                <a:sym typeface="JetBrains Mono"/>
              </a:rPr>
              <a:t>UI 컴포넌트 라이브러리</a:t>
            </a:r>
            <a:endParaRPr b="0" i="0" sz="900" u="none" cap="none" strike="noStrike">
              <a:solidFill>
                <a:schemeClr val="dk1"/>
              </a:solidFill>
              <a:latin typeface="Calibri"/>
              <a:ea typeface="Calibri"/>
              <a:cs typeface="Calibri"/>
              <a:sym typeface="Calibri"/>
            </a:endParaRPr>
          </a:p>
        </p:txBody>
      </p:sp>
      <p:sp>
        <p:nvSpPr>
          <p:cNvPr id="174" name="Google Shape;174;p6"/>
          <p:cNvSpPr/>
          <p:nvPr/>
        </p:nvSpPr>
        <p:spPr>
          <a:xfrm>
            <a:off x="9699955" y="2935224"/>
            <a:ext cx="1867205"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2F2F5"/>
              </a:buClr>
              <a:buSzPts val="1300"/>
              <a:buFont typeface="Instrument Sans"/>
              <a:buNone/>
            </a:pPr>
            <a:r>
              <a:rPr b="1" i="0" lang="en-US" sz="1300" u="none" cap="none" strike="noStrike">
                <a:solidFill>
                  <a:srgbClr val="F2F2F5"/>
                </a:solidFill>
                <a:latin typeface="Instrument Sans"/>
                <a:ea typeface="Instrument Sans"/>
                <a:cs typeface="Instrument Sans"/>
                <a:sym typeface="Instrument Sans"/>
              </a:rPr>
              <a:t>shadcn /</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2F2F5"/>
              </a:buClr>
              <a:buSzPts val="1300"/>
              <a:buFont typeface="Instrument Sans"/>
              <a:buNone/>
            </a:pPr>
            <a:r>
              <a:rPr b="1" i="0" lang="en-US" sz="1300" u="none" cap="none" strike="noStrike">
                <a:solidFill>
                  <a:srgbClr val="F2F2F5"/>
                </a:solidFill>
                <a:latin typeface="Instrument Sans"/>
                <a:ea typeface="Instrument Sans"/>
                <a:cs typeface="Instrument Sans"/>
                <a:sym typeface="Instrument Sans"/>
              </a:rPr>
              <a:t>Base UI</a:t>
            </a:r>
            <a:endParaRPr b="0" i="0" sz="1300" u="none" cap="none" strike="noStrike">
              <a:solidFill>
                <a:schemeClr val="dk1"/>
              </a:solidFill>
              <a:latin typeface="Calibri"/>
              <a:ea typeface="Calibri"/>
              <a:cs typeface="Calibri"/>
              <a:sym typeface="Calibri"/>
            </a:endParaRPr>
          </a:p>
        </p:txBody>
      </p:sp>
      <p:sp>
        <p:nvSpPr>
          <p:cNvPr id="175" name="Google Shape;175;p6"/>
          <p:cNvSpPr/>
          <p:nvPr/>
        </p:nvSpPr>
        <p:spPr>
          <a:xfrm>
            <a:off x="9754819" y="3538728"/>
            <a:ext cx="1757477" cy="173736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98989D"/>
              </a:buClr>
              <a:buSzPts val="950"/>
              <a:buFont typeface="Instrument Sans"/>
              <a:buNone/>
            </a:pPr>
            <a:r>
              <a:rPr b="0" i="0" lang="en-US" sz="950" u="none" cap="none" strike="noStrike">
                <a:solidFill>
                  <a:srgbClr val="98989D"/>
                </a:solidFill>
                <a:latin typeface="Instrument Sans"/>
                <a:ea typeface="Instrument Sans"/>
                <a:cs typeface="Instrument Sans"/>
                <a:sym typeface="Instrument Sans"/>
              </a:rPr>
              <a:t>버튼·입력창 같은 부품에서 </a:t>
            </a:r>
            <a:r>
              <a:rPr b="1" i="0" lang="en-US" sz="950" u="none" cap="none" strike="noStrike">
                <a:solidFill>
                  <a:srgbClr val="1E1E1E"/>
                </a:solidFill>
                <a:highlight>
                  <a:srgbClr val="FFD60A"/>
                </a:highlight>
                <a:latin typeface="Instrument Sans"/>
                <a:ea typeface="Instrument Sans"/>
                <a:cs typeface="Instrument Sans"/>
                <a:sym typeface="Instrument Sans"/>
              </a:rPr>
              <a:t>접근성을 직접 구현 안 하고</a:t>
            </a:r>
            <a:r>
              <a:rPr b="0" i="0" lang="en-US" sz="950" u="none" cap="none" strike="noStrike">
                <a:solidFill>
                  <a:srgbClr val="98989D"/>
                </a:solidFill>
                <a:latin typeface="Instrument Sans"/>
                <a:ea typeface="Instrument Sans"/>
                <a:cs typeface="Instrument Sans"/>
                <a:sym typeface="Instrument Sans"/>
              </a:rPr>
              <a:t> 검증된 걸 사용</a:t>
            </a:r>
            <a:endParaRPr b="0" i="0" sz="950" u="none" cap="none" strike="noStrike">
              <a:solidFill>
                <a:schemeClr val="dk1"/>
              </a:solidFill>
              <a:latin typeface="Calibri"/>
              <a:ea typeface="Calibri"/>
              <a:cs typeface="Calibri"/>
              <a:sym typeface="Calibri"/>
            </a:endParaRPr>
          </a:p>
        </p:txBody>
      </p:sp>
      <p:sp>
        <p:nvSpPr>
          <p:cNvPr id="176" name="Google Shape;176;p6"/>
          <p:cNvSpPr/>
          <p:nvPr/>
        </p:nvSpPr>
        <p:spPr>
          <a:xfrm>
            <a:off x="548640" y="6446520"/>
            <a:ext cx="11091672"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6E73"/>
              </a:buClr>
              <a:buSzPts val="950"/>
              <a:buFont typeface="JetBrains Mono"/>
              <a:buNone/>
            </a:pPr>
            <a:r>
              <a:rPr b="0" i="0" lang="en-US" sz="950" u="none" cap="none" strike="noStrike">
                <a:solidFill>
                  <a:srgbClr val="6E6E73"/>
                </a:solidFill>
                <a:latin typeface="JetBrains Mono"/>
                <a:ea typeface="JetBrains Mono"/>
                <a:cs typeface="JetBrains Mono"/>
                <a:sym typeface="JetBrains Mono"/>
              </a:rPr>
              <a:t>5일 스코프 · 검증된 도구로 리스크를 줄이고, 진짜 차별점에 시간을 집중</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181" name="Shape 181"/>
        <p:cNvGrpSpPr/>
        <p:nvPr/>
      </p:nvGrpSpPr>
      <p:grpSpPr>
        <a:xfrm>
          <a:off x="0" y="0"/>
          <a:ext cx="0" cy="0"/>
          <a:chOff x="0" y="0"/>
          <a:chExt cx="0" cy="0"/>
        </a:xfrm>
      </p:grpSpPr>
      <p:sp>
        <p:nvSpPr>
          <p:cNvPr id="182" name="Google Shape;182;p7"/>
          <p:cNvSpPr/>
          <p:nvPr/>
        </p:nvSpPr>
        <p:spPr>
          <a:xfrm>
            <a:off x="548640" y="41148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E73"/>
              </a:buClr>
              <a:buSzPts val="1100"/>
              <a:buFont typeface="JetBrains Mono"/>
              <a:buNone/>
            </a:pPr>
            <a:r>
              <a:rPr b="0" i="0" lang="en-US" sz="1100" u="none" cap="none" strike="noStrike">
                <a:solidFill>
                  <a:srgbClr val="6E6E73"/>
                </a:solidFill>
                <a:latin typeface="JetBrains Mono"/>
                <a:ea typeface="JetBrains Mono"/>
                <a:cs typeface="JetBrains Mono"/>
                <a:sym typeface="JetBrains Mono"/>
              </a:rPr>
              <a:t># S4 · VALIDATION</a:t>
            </a:r>
            <a:endParaRPr b="0" i="0" sz="1100" u="none" cap="none" strike="noStrike">
              <a:solidFill>
                <a:schemeClr val="dk1"/>
              </a:solidFill>
              <a:latin typeface="Calibri"/>
              <a:ea typeface="Calibri"/>
              <a:cs typeface="Calibri"/>
              <a:sym typeface="Calibri"/>
            </a:endParaRPr>
          </a:p>
        </p:txBody>
      </p:sp>
      <p:sp>
        <p:nvSpPr>
          <p:cNvPr id="183" name="Google Shape;183;p7"/>
          <p:cNvSpPr/>
          <p:nvPr/>
        </p:nvSpPr>
        <p:spPr>
          <a:xfrm>
            <a:off x="7068312" y="411480"/>
            <a:ext cx="45720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6E73"/>
              </a:buClr>
              <a:buSzPts val="1100"/>
              <a:buFont typeface="JetBrains Mono"/>
              <a:buNone/>
            </a:pPr>
            <a:r>
              <a:rPr b="0" i="0" lang="en-US" sz="1100" u="none" cap="none" strike="noStrike">
                <a:solidFill>
                  <a:srgbClr val="6E6E73"/>
                </a:solidFill>
                <a:latin typeface="JetBrains Mono"/>
                <a:ea typeface="JetBrains Mono"/>
                <a:cs typeface="JetBrains Mono"/>
                <a:sym typeface="JetBrains Mono"/>
              </a:rPr>
              <a:t>2:55 – 3:50</a:t>
            </a:r>
            <a:endParaRPr b="0" i="0" sz="1100" u="none" cap="none" strike="noStrike">
              <a:solidFill>
                <a:schemeClr val="dk1"/>
              </a:solidFill>
              <a:latin typeface="Calibri"/>
              <a:ea typeface="Calibri"/>
              <a:cs typeface="Calibri"/>
              <a:sym typeface="Calibri"/>
            </a:endParaRPr>
          </a:p>
        </p:txBody>
      </p:sp>
      <p:sp>
        <p:nvSpPr>
          <p:cNvPr id="184" name="Google Shape;184;p7"/>
          <p:cNvSpPr/>
          <p:nvPr/>
        </p:nvSpPr>
        <p:spPr>
          <a:xfrm>
            <a:off x="548640" y="731520"/>
            <a:ext cx="1109167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F2F5"/>
              </a:buClr>
              <a:buSzPts val="2700"/>
              <a:buFont typeface="Fraunces"/>
              <a:buNone/>
            </a:pPr>
            <a:r>
              <a:rPr b="0" i="1" lang="en-US" sz="2700" u="none" cap="none" strike="noStrike">
                <a:solidFill>
                  <a:srgbClr val="F2F2F5"/>
                </a:solidFill>
                <a:latin typeface="Fraunces"/>
                <a:ea typeface="Fraunces"/>
                <a:cs typeface="Fraunces"/>
                <a:sym typeface="Fraunces"/>
              </a:rPr>
              <a:t>실측한 것과, 개선 과제로 남긴 것</a:t>
            </a:r>
            <a:endParaRPr b="0" i="0" sz="2700" u="none" cap="none" strike="noStrike">
              <a:solidFill>
                <a:schemeClr val="dk1"/>
              </a:solidFill>
              <a:latin typeface="Calibri"/>
              <a:ea typeface="Calibri"/>
              <a:cs typeface="Calibri"/>
              <a:sym typeface="Calibri"/>
            </a:endParaRPr>
          </a:p>
        </p:txBody>
      </p:sp>
      <p:sp>
        <p:nvSpPr>
          <p:cNvPr id="185" name="Google Shape;185;p7"/>
          <p:cNvSpPr/>
          <p:nvPr/>
        </p:nvSpPr>
        <p:spPr>
          <a:xfrm>
            <a:off x="548640" y="1828800"/>
            <a:ext cx="26517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84FF"/>
              </a:buClr>
              <a:buSzPts val="3600"/>
              <a:buFont typeface="Instrument Sans"/>
              <a:buNone/>
            </a:pPr>
            <a:r>
              <a:rPr b="1" i="0" lang="en-US" sz="3600" u="none" cap="none" strike="noStrike">
                <a:solidFill>
                  <a:srgbClr val="0A84FF"/>
                </a:solidFill>
                <a:latin typeface="Instrument Sans"/>
                <a:ea typeface="Instrument Sans"/>
                <a:cs typeface="Instrument Sans"/>
                <a:sym typeface="Instrument Sans"/>
              </a:rPr>
              <a:t>163KB</a:t>
            </a:r>
            <a:endParaRPr b="0" i="0" sz="3600" u="none" cap="none" strike="noStrike">
              <a:solidFill>
                <a:schemeClr val="dk1"/>
              </a:solidFill>
              <a:latin typeface="Calibri"/>
              <a:ea typeface="Calibri"/>
              <a:cs typeface="Calibri"/>
              <a:sym typeface="Calibri"/>
            </a:endParaRPr>
          </a:p>
        </p:txBody>
      </p:sp>
      <p:sp>
        <p:nvSpPr>
          <p:cNvPr id="186" name="Google Shape;186;p7"/>
          <p:cNvSpPr/>
          <p:nvPr/>
        </p:nvSpPr>
        <p:spPr>
          <a:xfrm>
            <a:off x="548640" y="2560320"/>
            <a:ext cx="26517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8989D"/>
              </a:buClr>
              <a:buSzPts val="1100"/>
              <a:buFont typeface="Instrument Sans"/>
              <a:buNone/>
            </a:pPr>
            <a:r>
              <a:rPr b="0" i="0" lang="en-US" sz="1100" u="none" cap="none" strike="noStrike">
                <a:solidFill>
                  <a:srgbClr val="98989D"/>
                </a:solidFill>
                <a:latin typeface="Instrument Sans"/>
                <a:ea typeface="Instrument Sans"/>
                <a:cs typeface="Instrument Sans"/>
                <a:sym typeface="Instrument Sans"/>
              </a:rPr>
              <a:t>메인 페이지 JS</a:t>
            </a:r>
            <a:endParaRPr b="0" i="0" sz="1100" u="none" cap="none" strike="noStrike">
              <a:solidFill>
                <a:schemeClr val="dk1"/>
              </a:solidFill>
              <a:latin typeface="Calibri"/>
              <a:ea typeface="Calibri"/>
              <a:cs typeface="Calibri"/>
              <a:sym typeface="Calibri"/>
            </a:endParaRPr>
          </a:p>
        </p:txBody>
      </p:sp>
      <p:sp>
        <p:nvSpPr>
          <p:cNvPr id="187" name="Google Shape;187;p7"/>
          <p:cNvSpPr/>
          <p:nvPr/>
        </p:nvSpPr>
        <p:spPr>
          <a:xfrm>
            <a:off x="3337560" y="1828800"/>
            <a:ext cx="26517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84FF"/>
              </a:buClr>
              <a:buSzPts val="3600"/>
              <a:buFont typeface="Instrument Sans"/>
              <a:buNone/>
            </a:pPr>
            <a:r>
              <a:rPr b="1" i="0" lang="en-US" sz="3600" u="none" cap="none" strike="noStrike">
                <a:solidFill>
                  <a:srgbClr val="0A84FF"/>
                </a:solidFill>
                <a:latin typeface="Instrument Sans"/>
                <a:ea typeface="Instrument Sans"/>
                <a:cs typeface="Instrument Sans"/>
                <a:sym typeface="Instrument Sans"/>
              </a:rPr>
              <a:t>75</a:t>
            </a:r>
            <a:endParaRPr b="0" i="0" sz="3600" u="none" cap="none" strike="noStrike">
              <a:solidFill>
                <a:schemeClr val="dk1"/>
              </a:solidFill>
              <a:latin typeface="Calibri"/>
              <a:ea typeface="Calibri"/>
              <a:cs typeface="Calibri"/>
              <a:sym typeface="Calibri"/>
            </a:endParaRPr>
          </a:p>
        </p:txBody>
      </p:sp>
      <p:sp>
        <p:nvSpPr>
          <p:cNvPr id="188" name="Google Shape;188;p7"/>
          <p:cNvSpPr/>
          <p:nvPr/>
        </p:nvSpPr>
        <p:spPr>
          <a:xfrm>
            <a:off x="3337560" y="2560320"/>
            <a:ext cx="26517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8989D"/>
              </a:buClr>
              <a:buSzPts val="1100"/>
              <a:buFont typeface="Instrument Sans"/>
              <a:buNone/>
            </a:pPr>
            <a:r>
              <a:rPr b="0" i="0" lang="en-US" sz="1100" u="none" cap="none" strike="noStrike">
                <a:solidFill>
                  <a:srgbClr val="98989D"/>
                </a:solidFill>
                <a:latin typeface="Instrument Sans"/>
                <a:ea typeface="Instrument Sans"/>
                <a:cs typeface="Instrument Sans"/>
                <a:sym typeface="Instrument Sans"/>
              </a:rPr>
              <a:t>Lighthouse Performance</a:t>
            </a:r>
            <a:endParaRPr b="0" i="0" sz="1100" u="none" cap="none" strike="noStrike">
              <a:solidFill>
                <a:schemeClr val="dk1"/>
              </a:solidFill>
              <a:latin typeface="Calibri"/>
              <a:ea typeface="Calibri"/>
              <a:cs typeface="Calibri"/>
              <a:sym typeface="Calibri"/>
            </a:endParaRPr>
          </a:p>
        </p:txBody>
      </p:sp>
      <p:sp>
        <p:nvSpPr>
          <p:cNvPr id="189" name="Google Shape;189;p7"/>
          <p:cNvSpPr/>
          <p:nvPr/>
        </p:nvSpPr>
        <p:spPr>
          <a:xfrm>
            <a:off x="6126480" y="1828800"/>
            <a:ext cx="26517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84FF"/>
              </a:buClr>
              <a:buSzPts val="3600"/>
              <a:buFont typeface="Instrument Sans"/>
              <a:buNone/>
            </a:pPr>
            <a:r>
              <a:rPr b="1" i="0" lang="en-US" sz="3600" u="none" cap="none" strike="noStrike">
                <a:solidFill>
                  <a:srgbClr val="0A84FF"/>
                </a:solidFill>
                <a:latin typeface="Instrument Sans"/>
                <a:ea typeface="Instrument Sans"/>
                <a:cs typeface="Instrument Sans"/>
                <a:sym typeface="Instrument Sans"/>
              </a:rPr>
              <a:t>94</a:t>
            </a:r>
            <a:endParaRPr b="0" i="0" sz="3600" u="none" cap="none" strike="noStrike">
              <a:solidFill>
                <a:schemeClr val="dk1"/>
              </a:solidFill>
              <a:latin typeface="Calibri"/>
              <a:ea typeface="Calibri"/>
              <a:cs typeface="Calibri"/>
              <a:sym typeface="Calibri"/>
            </a:endParaRPr>
          </a:p>
        </p:txBody>
      </p:sp>
      <p:sp>
        <p:nvSpPr>
          <p:cNvPr id="190" name="Google Shape;190;p7"/>
          <p:cNvSpPr/>
          <p:nvPr/>
        </p:nvSpPr>
        <p:spPr>
          <a:xfrm>
            <a:off x="6126480" y="2560320"/>
            <a:ext cx="26517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8989D"/>
              </a:buClr>
              <a:buSzPts val="1100"/>
              <a:buFont typeface="Instrument Sans"/>
              <a:buNone/>
            </a:pPr>
            <a:r>
              <a:rPr b="0" i="0" lang="en-US" sz="1100" u="none" cap="none" strike="noStrike">
                <a:solidFill>
                  <a:srgbClr val="98989D"/>
                </a:solidFill>
                <a:latin typeface="Instrument Sans"/>
                <a:ea typeface="Instrument Sans"/>
                <a:cs typeface="Instrument Sans"/>
                <a:sym typeface="Instrument Sans"/>
              </a:rPr>
              <a:t>Lighthouse Accessibility</a:t>
            </a:r>
            <a:endParaRPr b="0" i="0" sz="1100" u="none" cap="none" strike="noStrike">
              <a:solidFill>
                <a:schemeClr val="dk1"/>
              </a:solidFill>
              <a:latin typeface="Calibri"/>
              <a:ea typeface="Calibri"/>
              <a:cs typeface="Calibri"/>
              <a:sym typeface="Calibri"/>
            </a:endParaRPr>
          </a:p>
        </p:txBody>
      </p:sp>
      <p:sp>
        <p:nvSpPr>
          <p:cNvPr id="191" name="Google Shape;191;p7"/>
          <p:cNvSpPr/>
          <p:nvPr/>
        </p:nvSpPr>
        <p:spPr>
          <a:xfrm>
            <a:off x="8915400" y="1828800"/>
            <a:ext cx="26517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84FF"/>
              </a:buClr>
              <a:buSzPts val="3600"/>
              <a:buFont typeface="Instrument Sans"/>
              <a:buNone/>
            </a:pPr>
            <a:r>
              <a:rPr b="1" i="0" lang="en-US" sz="3600" u="none" cap="none" strike="noStrike">
                <a:solidFill>
                  <a:srgbClr val="0A84FF"/>
                </a:solidFill>
                <a:latin typeface="Instrument Sans"/>
                <a:ea typeface="Instrument Sans"/>
                <a:cs typeface="Instrument Sans"/>
                <a:sym typeface="Instrument Sans"/>
              </a:rPr>
              <a:t>4.73MB</a:t>
            </a:r>
            <a:endParaRPr b="0" i="0" sz="3600" u="none" cap="none" strike="noStrike">
              <a:solidFill>
                <a:schemeClr val="dk1"/>
              </a:solidFill>
              <a:latin typeface="Calibri"/>
              <a:ea typeface="Calibri"/>
              <a:cs typeface="Calibri"/>
              <a:sym typeface="Calibri"/>
            </a:endParaRPr>
          </a:p>
        </p:txBody>
      </p:sp>
      <p:sp>
        <p:nvSpPr>
          <p:cNvPr id="192" name="Google Shape;192;p7"/>
          <p:cNvSpPr/>
          <p:nvPr/>
        </p:nvSpPr>
        <p:spPr>
          <a:xfrm>
            <a:off x="8915400" y="2560320"/>
            <a:ext cx="26517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8989D"/>
              </a:buClr>
              <a:buSzPts val="1100"/>
              <a:buFont typeface="Instrument Sans"/>
              <a:buNone/>
            </a:pPr>
            <a:r>
              <a:rPr b="0" i="0" lang="en-US" sz="1100" u="none" cap="none" strike="noStrike">
                <a:solidFill>
                  <a:srgbClr val="98989D"/>
                </a:solidFill>
                <a:latin typeface="Instrument Sans"/>
                <a:ea typeface="Instrument Sans"/>
                <a:cs typeface="Instrument Sans"/>
                <a:sym typeface="Instrument Sans"/>
              </a:rPr>
              <a:t>/practice 전송량 (63% Sandpack)</a:t>
            </a:r>
            <a:endParaRPr b="0" i="0" sz="1100" u="none" cap="none" strike="noStrike">
              <a:solidFill>
                <a:schemeClr val="dk1"/>
              </a:solidFill>
              <a:latin typeface="Calibri"/>
              <a:ea typeface="Calibri"/>
              <a:cs typeface="Calibri"/>
              <a:sym typeface="Calibri"/>
            </a:endParaRPr>
          </a:p>
        </p:txBody>
      </p:sp>
      <p:pic>
        <p:nvPicPr>
          <p:cNvPr descr="C:/Users/user/Documents/workspace/first-project/docs/assets/s4-lighthouse-main.png" id="193" name="Google Shape;193;p7"/>
          <p:cNvPicPr preferRelativeResize="0"/>
          <p:nvPr/>
        </p:nvPicPr>
        <p:blipFill rotWithShape="1">
          <a:blip r:embed="rId3">
            <a:alphaModFix/>
          </a:blip>
          <a:srcRect b="0" l="0" r="0" t="0"/>
          <a:stretch/>
        </p:blipFill>
        <p:spPr>
          <a:xfrm>
            <a:off x="548640" y="2971800"/>
            <a:ext cx="3657600" cy="2496312"/>
          </a:xfrm>
          <a:prstGeom prst="rect">
            <a:avLst/>
          </a:prstGeom>
          <a:noFill/>
          <a:ln>
            <a:noFill/>
          </a:ln>
        </p:spPr>
      </p:pic>
      <p:pic>
        <p:nvPicPr>
          <p:cNvPr descr="C:/Users/user/Documents/workspace/first-project/docs/assets/s4-lighthouse-practice.png" id="194" name="Google Shape;194;p7"/>
          <p:cNvPicPr preferRelativeResize="0"/>
          <p:nvPr/>
        </p:nvPicPr>
        <p:blipFill rotWithShape="1">
          <a:blip r:embed="rId4">
            <a:alphaModFix/>
          </a:blip>
          <a:srcRect b="0" l="0" r="0" t="0"/>
          <a:stretch/>
        </p:blipFill>
        <p:spPr>
          <a:xfrm>
            <a:off x="4343400" y="2971800"/>
            <a:ext cx="3657600" cy="2496312"/>
          </a:xfrm>
          <a:prstGeom prst="rect">
            <a:avLst/>
          </a:prstGeom>
          <a:noFill/>
          <a:ln>
            <a:noFill/>
          </a:ln>
        </p:spPr>
      </p:pic>
      <p:grpSp>
        <p:nvGrpSpPr>
          <p:cNvPr id="195" name="Google Shape;195;p7"/>
          <p:cNvGrpSpPr/>
          <p:nvPr/>
        </p:nvGrpSpPr>
        <p:grpSpPr>
          <a:xfrm>
            <a:off x="8302795" y="3108973"/>
            <a:ext cx="3337500" cy="2158044"/>
            <a:chOff x="8302795" y="3108973"/>
            <a:chExt cx="3337500" cy="2158044"/>
          </a:xfrm>
        </p:grpSpPr>
        <p:sp>
          <p:nvSpPr>
            <p:cNvPr id="196" name="Google Shape;196;p7"/>
            <p:cNvSpPr/>
            <p:nvPr/>
          </p:nvSpPr>
          <p:spPr>
            <a:xfrm>
              <a:off x="8302795" y="3529596"/>
              <a:ext cx="91500" cy="91500"/>
            </a:xfrm>
            <a:prstGeom prst="ellipse">
              <a:avLst/>
            </a:prstGeom>
            <a:solidFill>
              <a:srgbClr val="FFD60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7"/>
            <p:cNvSpPr/>
            <p:nvPr/>
          </p:nvSpPr>
          <p:spPr>
            <a:xfrm>
              <a:off x="8531395" y="3474732"/>
              <a:ext cx="31089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8989D"/>
                </a:buClr>
                <a:buSzPts val="1050"/>
                <a:buFont typeface="Instrument Sans"/>
                <a:buNone/>
              </a:pPr>
              <a:r>
                <a:rPr b="0" i="0" lang="en-US" sz="1050" u="none" cap="none" strike="noStrike">
                  <a:solidFill>
                    <a:srgbClr val="98989D"/>
                  </a:solidFill>
                  <a:latin typeface="Instrument Sans"/>
                  <a:ea typeface="Instrument Sans"/>
                  <a:cs typeface="Instrument Sans"/>
                  <a:sym typeface="Instrument Sans"/>
                </a:rPr>
                <a:t>안정성: 긴 텍스트 입력 방어(길이 제한) 없음</a:t>
              </a:r>
              <a:endParaRPr b="0" i="0" sz="1050" u="none" cap="none" strike="noStrike">
                <a:solidFill>
                  <a:schemeClr val="dk1"/>
                </a:solidFill>
                <a:latin typeface="Calibri"/>
                <a:ea typeface="Calibri"/>
                <a:cs typeface="Calibri"/>
                <a:sym typeface="Calibri"/>
              </a:endParaRPr>
            </a:p>
          </p:txBody>
        </p:sp>
        <p:sp>
          <p:nvSpPr>
            <p:cNvPr id="198" name="Google Shape;198;p7"/>
            <p:cNvSpPr/>
            <p:nvPr/>
          </p:nvSpPr>
          <p:spPr>
            <a:xfrm>
              <a:off x="8302795" y="4151389"/>
              <a:ext cx="91500" cy="91500"/>
            </a:xfrm>
            <a:prstGeom prst="ellipse">
              <a:avLst/>
            </a:prstGeom>
            <a:solidFill>
              <a:srgbClr val="FFD60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7"/>
            <p:cNvSpPr/>
            <p:nvPr/>
          </p:nvSpPr>
          <p:spPr>
            <a:xfrm>
              <a:off x="8531395" y="4096525"/>
              <a:ext cx="31089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8989D"/>
                </a:buClr>
                <a:buSzPts val="1050"/>
                <a:buFont typeface="Instrument Sans"/>
                <a:buNone/>
              </a:pPr>
              <a:r>
                <a:rPr b="0" i="0" lang="en-US" sz="1050" u="none" cap="none" strike="noStrike">
                  <a:solidFill>
                    <a:srgbClr val="98989D"/>
                  </a:solidFill>
                  <a:latin typeface="Instrument Sans"/>
                  <a:ea typeface="Instrument Sans"/>
                  <a:cs typeface="Instrument Sans"/>
                  <a:sym typeface="Instrument Sans"/>
                </a:rPr>
                <a:t>재현성: 반복 실행 검증 자동화 테스트 없음</a:t>
              </a:r>
              <a:endParaRPr b="0" i="0" sz="1050" u="none" cap="none" strike="noStrike">
                <a:solidFill>
                  <a:schemeClr val="dk1"/>
                </a:solidFill>
                <a:latin typeface="Calibri"/>
                <a:ea typeface="Calibri"/>
                <a:cs typeface="Calibri"/>
                <a:sym typeface="Calibri"/>
              </a:endParaRPr>
            </a:p>
          </p:txBody>
        </p:sp>
        <p:sp>
          <p:nvSpPr>
            <p:cNvPr id="200" name="Google Shape;200;p7"/>
            <p:cNvSpPr/>
            <p:nvPr/>
          </p:nvSpPr>
          <p:spPr>
            <a:xfrm>
              <a:off x="8302795" y="4773181"/>
              <a:ext cx="91500" cy="91500"/>
            </a:xfrm>
            <a:prstGeom prst="ellipse">
              <a:avLst/>
            </a:prstGeom>
            <a:solidFill>
              <a:srgbClr val="FFD60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7"/>
            <p:cNvSpPr/>
            <p:nvPr/>
          </p:nvSpPr>
          <p:spPr>
            <a:xfrm>
              <a:off x="8531395" y="4718317"/>
              <a:ext cx="31089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8989D"/>
                </a:buClr>
                <a:buSzPts val="1050"/>
                <a:buFont typeface="Instrument Sans"/>
                <a:buNone/>
              </a:pPr>
              <a:r>
                <a:rPr b="0" i="0" lang="en-US" sz="1050" u="none" cap="none" strike="noStrike">
                  <a:solidFill>
                    <a:srgbClr val="98989D"/>
                  </a:solidFill>
                  <a:latin typeface="Instrument Sans"/>
                  <a:ea typeface="Instrument Sans"/>
                  <a:cs typeface="Instrument Sans"/>
                  <a:sym typeface="Instrument Sans"/>
                </a:rPr>
                <a:t>생성 품질: 체크리스트 설계는 했으나 실채점 못함</a:t>
              </a:r>
              <a:endParaRPr b="0" i="0" sz="1050" u="none" cap="none" strike="noStrike">
                <a:solidFill>
                  <a:schemeClr val="dk1"/>
                </a:solidFill>
                <a:latin typeface="Calibri"/>
                <a:ea typeface="Calibri"/>
                <a:cs typeface="Calibri"/>
                <a:sym typeface="Calibri"/>
              </a:endParaRPr>
            </a:p>
          </p:txBody>
        </p:sp>
        <p:sp>
          <p:nvSpPr>
            <p:cNvPr id="202" name="Google Shape;202;p7"/>
            <p:cNvSpPr/>
            <p:nvPr/>
          </p:nvSpPr>
          <p:spPr>
            <a:xfrm>
              <a:off x="8302795" y="3108973"/>
              <a:ext cx="3291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60A"/>
                </a:buClr>
                <a:buSzPts val="1000"/>
                <a:buFont typeface="JetBrains Mono"/>
                <a:buNone/>
              </a:pPr>
              <a:r>
                <a:rPr b="0" i="0" lang="en-US" sz="1000" u="none" cap="none" strike="noStrike">
                  <a:solidFill>
                    <a:srgbClr val="FFD60A"/>
                  </a:solidFill>
                  <a:latin typeface="JetBrains Mono"/>
                  <a:ea typeface="JetBrains Mono"/>
                  <a:cs typeface="JetBrains Mono"/>
                  <a:sym typeface="JetBrains Mono"/>
                </a:rPr>
                <a:t>개선 과제로 남김</a:t>
              </a:r>
              <a:endParaRPr b="0" i="0" sz="1000" u="none" cap="none" strike="noStrike">
                <a:solidFill>
                  <a:schemeClr val="dk1"/>
                </a:solidFill>
                <a:latin typeface="Calibri"/>
                <a:ea typeface="Calibri"/>
                <a:cs typeface="Calibri"/>
                <a:sym typeface="Calibri"/>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207" name="Shape 207"/>
        <p:cNvGrpSpPr/>
        <p:nvPr/>
      </p:nvGrpSpPr>
      <p:grpSpPr>
        <a:xfrm>
          <a:off x="0" y="0"/>
          <a:ext cx="0" cy="0"/>
          <a:chOff x="0" y="0"/>
          <a:chExt cx="0" cy="0"/>
        </a:xfrm>
      </p:grpSpPr>
      <p:sp>
        <p:nvSpPr>
          <p:cNvPr id="208" name="Google Shape;208;p8"/>
          <p:cNvSpPr/>
          <p:nvPr/>
        </p:nvSpPr>
        <p:spPr>
          <a:xfrm>
            <a:off x="548640" y="41148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E73"/>
              </a:buClr>
              <a:buSzPts val="1100"/>
              <a:buFont typeface="JetBrains Mono"/>
              <a:buNone/>
            </a:pPr>
            <a:r>
              <a:rPr b="0" i="0" lang="en-US" sz="1100" u="none" cap="none" strike="noStrike">
                <a:solidFill>
                  <a:srgbClr val="6E6E73"/>
                </a:solidFill>
                <a:latin typeface="JetBrains Mono"/>
                <a:ea typeface="JetBrains Mono"/>
                <a:cs typeface="JetBrains Mono"/>
                <a:sym typeface="JetBrains Mono"/>
              </a:rPr>
              <a:t># S5 · LIMITATIONS &amp; CLOSING</a:t>
            </a:r>
            <a:endParaRPr b="0" i="0" sz="1100" u="none" cap="none" strike="noStrike">
              <a:solidFill>
                <a:schemeClr val="dk1"/>
              </a:solidFill>
              <a:latin typeface="Calibri"/>
              <a:ea typeface="Calibri"/>
              <a:cs typeface="Calibri"/>
              <a:sym typeface="Calibri"/>
            </a:endParaRPr>
          </a:p>
        </p:txBody>
      </p:sp>
      <p:sp>
        <p:nvSpPr>
          <p:cNvPr id="209" name="Google Shape;209;p8"/>
          <p:cNvSpPr/>
          <p:nvPr/>
        </p:nvSpPr>
        <p:spPr>
          <a:xfrm>
            <a:off x="7068312" y="411480"/>
            <a:ext cx="45720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6E73"/>
              </a:buClr>
              <a:buSzPts val="1100"/>
              <a:buFont typeface="JetBrains Mono"/>
              <a:buNone/>
            </a:pPr>
            <a:r>
              <a:rPr b="0" i="0" lang="en-US" sz="1100" u="none" cap="none" strike="noStrike">
                <a:solidFill>
                  <a:srgbClr val="6E6E73"/>
                </a:solidFill>
                <a:latin typeface="JetBrains Mono"/>
                <a:ea typeface="JetBrains Mono"/>
                <a:cs typeface="JetBrains Mono"/>
                <a:sym typeface="JetBrains Mono"/>
              </a:rPr>
              <a:t>3:50 – 4:35</a:t>
            </a:r>
            <a:endParaRPr b="0" i="0" sz="1100" u="none" cap="none" strike="noStrike">
              <a:solidFill>
                <a:schemeClr val="dk1"/>
              </a:solidFill>
              <a:latin typeface="Calibri"/>
              <a:ea typeface="Calibri"/>
              <a:cs typeface="Calibri"/>
              <a:sym typeface="Calibri"/>
            </a:endParaRPr>
          </a:p>
        </p:txBody>
      </p:sp>
      <p:sp>
        <p:nvSpPr>
          <p:cNvPr id="210" name="Google Shape;210;p8"/>
          <p:cNvSpPr/>
          <p:nvPr/>
        </p:nvSpPr>
        <p:spPr>
          <a:xfrm>
            <a:off x="548640" y="731520"/>
            <a:ext cx="1109167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F2F5"/>
              </a:buClr>
              <a:buSzPts val="2700"/>
              <a:buFont typeface="Fraunces"/>
              <a:buNone/>
            </a:pPr>
            <a:r>
              <a:rPr b="0" i="1" lang="en-US" sz="2700" u="none" cap="none" strike="noStrike">
                <a:solidFill>
                  <a:srgbClr val="F2F2F5"/>
                </a:solidFill>
                <a:latin typeface="Fraunces"/>
                <a:ea typeface="Fraunces"/>
                <a:cs typeface="Fraunces"/>
                <a:sym typeface="Fraunces"/>
              </a:rPr>
              <a:t>핵심 루프는 구현, 서비스화엔 더 필요</a:t>
            </a:r>
            <a:endParaRPr b="0" i="0" sz="2700" u="none" cap="none" strike="noStrike">
              <a:solidFill>
                <a:schemeClr val="dk1"/>
              </a:solidFill>
              <a:latin typeface="Calibri"/>
              <a:ea typeface="Calibri"/>
              <a:cs typeface="Calibri"/>
              <a:sym typeface="Calibri"/>
            </a:endParaRPr>
          </a:p>
        </p:txBody>
      </p:sp>
      <p:sp>
        <p:nvSpPr>
          <p:cNvPr id="211" name="Google Shape;211;p8"/>
          <p:cNvSpPr/>
          <p:nvPr/>
        </p:nvSpPr>
        <p:spPr>
          <a:xfrm>
            <a:off x="548640" y="1828800"/>
            <a:ext cx="5330952" cy="1554480"/>
          </a:xfrm>
          <a:prstGeom prst="roundRect">
            <a:avLst>
              <a:gd fmla="val 4706" name="adj"/>
            </a:avLst>
          </a:prstGeom>
          <a:solidFill>
            <a:srgbClr val="1B2A3F"/>
          </a:solidFill>
          <a:ln cap="flat" cmpd="sng" w="9525">
            <a:solidFill>
              <a:srgbClr val="0A8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8"/>
          <p:cNvSpPr/>
          <p:nvPr/>
        </p:nvSpPr>
        <p:spPr>
          <a:xfrm>
            <a:off x="777240" y="1965960"/>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84FF"/>
              </a:buClr>
              <a:buSzPts val="1050"/>
              <a:buFont typeface="JetBrains Mono"/>
              <a:buNone/>
            </a:pPr>
            <a:r>
              <a:rPr b="0" i="0" lang="en-US" sz="1050" u="none" cap="none" strike="noStrike">
                <a:solidFill>
                  <a:srgbClr val="0A84FF"/>
                </a:solidFill>
                <a:latin typeface="JetBrains Mono"/>
                <a:ea typeface="JetBrains Mono"/>
                <a:cs typeface="JetBrains Mono"/>
                <a:sym typeface="JetBrains Mono"/>
              </a:rPr>
              <a:t>목표 달성</a:t>
            </a:r>
            <a:endParaRPr b="0" i="0" sz="1050" u="none" cap="none" strike="noStrike">
              <a:solidFill>
                <a:schemeClr val="dk1"/>
              </a:solidFill>
              <a:latin typeface="Calibri"/>
              <a:ea typeface="Calibri"/>
              <a:cs typeface="Calibri"/>
              <a:sym typeface="Calibri"/>
            </a:endParaRPr>
          </a:p>
        </p:txBody>
      </p:sp>
      <p:sp>
        <p:nvSpPr>
          <p:cNvPr id="213" name="Google Shape;213;p8"/>
          <p:cNvSpPr/>
          <p:nvPr/>
        </p:nvSpPr>
        <p:spPr>
          <a:xfrm>
            <a:off x="777240" y="2267712"/>
            <a:ext cx="489204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F2F5"/>
              </a:buClr>
              <a:buSzPts val="1300"/>
              <a:buFont typeface="Instrument Sans"/>
              <a:buNone/>
            </a:pPr>
            <a:r>
              <a:rPr b="1" i="0" lang="en-US" sz="1300" u="none" cap="none" strike="noStrike">
                <a:solidFill>
                  <a:srgbClr val="F2F2F5"/>
                </a:solidFill>
                <a:latin typeface="Instrument Sans"/>
                <a:ea typeface="Instrument Sans"/>
                <a:cs typeface="Instrument Sans"/>
                <a:sym typeface="Instrument Sans"/>
              </a:rPr>
              <a:t>"학습 단계별로 실습 목표가 달라야 한다"를 핵심 가치로 잡아, 단계별 목표 모델(이해/적용/종합)로 제품화</a:t>
            </a:r>
            <a:endParaRPr b="0" i="0" sz="1300" u="none" cap="none" strike="noStrike">
              <a:solidFill>
                <a:schemeClr val="dk1"/>
              </a:solidFill>
              <a:latin typeface="Calibri"/>
              <a:ea typeface="Calibri"/>
              <a:cs typeface="Calibri"/>
              <a:sym typeface="Calibri"/>
            </a:endParaRPr>
          </a:p>
        </p:txBody>
      </p:sp>
      <p:sp>
        <p:nvSpPr>
          <p:cNvPr id="214" name="Google Shape;214;p8"/>
          <p:cNvSpPr/>
          <p:nvPr/>
        </p:nvSpPr>
        <p:spPr>
          <a:xfrm>
            <a:off x="548640" y="3520440"/>
            <a:ext cx="5330952" cy="2514600"/>
          </a:xfrm>
          <a:prstGeom prst="roundRect">
            <a:avLst>
              <a:gd fmla="val 2909" name="adj"/>
            </a:avLst>
          </a:prstGeom>
          <a:solidFill>
            <a:srgbClr val="2A2A2C"/>
          </a:solidFill>
          <a:ln cap="flat" cmpd="sng" w="9525">
            <a:solidFill>
              <a:srgbClr val="3A3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8"/>
          <p:cNvSpPr/>
          <p:nvPr/>
        </p:nvSpPr>
        <p:spPr>
          <a:xfrm>
            <a:off x="777240" y="3657600"/>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E73"/>
              </a:buClr>
              <a:buSzPts val="1050"/>
              <a:buFont typeface="JetBrains Mono"/>
              <a:buNone/>
            </a:pPr>
            <a:r>
              <a:rPr b="0" i="0" lang="en-US" sz="1050" u="none" cap="none" strike="noStrike">
                <a:solidFill>
                  <a:srgbClr val="6E6E73"/>
                </a:solidFill>
                <a:latin typeface="JetBrains Mono"/>
                <a:ea typeface="JetBrains Mono"/>
                <a:cs typeface="JetBrains Mono"/>
                <a:sym typeface="JetBrains Mono"/>
              </a:rPr>
              <a:t>소감</a:t>
            </a:r>
            <a:endParaRPr b="0" i="0" sz="1050" u="none" cap="none" strike="noStrike">
              <a:solidFill>
                <a:schemeClr val="dk1"/>
              </a:solidFill>
              <a:latin typeface="Calibri"/>
              <a:ea typeface="Calibri"/>
              <a:cs typeface="Calibri"/>
              <a:sym typeface="Calibri"/>
            </a:endParaRPr>
          </a:p>
        </p:txBody>
      </p:sp>
      <p:sp>
        <p:nvSpPr>
          <p:cNvPr id="216" name="Google Shape;216;p8"/>
          <p:cNvSpPr/>
          <p:nvPr/>
        </p:nvSpPr>
        <p:spPr>
          <a:xfrm>
            <a:off x="777240" y="3950208"/>
            <a:ext cx="48920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8989D"/>
              </a:buClr>
              <a:buSzPts val="1100"/>
              <a:buFont typeface="Instrument Sans"/>
              <a:buNone/>
            </a:pPr>
            <a:r>
              <a:rPr b="0" i="0" lang="en-US" sz="1100" u="none" cap="none" strike="noStrike">
                <a:solidFill>
                  <a:srgbClr val="98989D"/>
                </a:solidFill>
                <a:latin typeface="Instrument Sans"/>
                <a:ea typeface="Instrument Sans"/>
                <a:cs typeface="Instrument Sans"/>
                <a:sym typeface="Instrument Sans"/>
              </a:rPr>
              <a:t>5일 만에 이 정도 구현이 가능하다는 데 놀랐음. 구현은 AI에 위임하고 문제 정의·설계에 집중.</a:t>
            </a:r>
            <a:endParaRPr b="0" i="0" sz="1100" u="none" cap="none" strike="noStrike">
              <a:solidFill>
                <a:schemeClr val="dk1"/>
              </a:solidFill>
              <a:latin typeface="Calibri"/>
              <a:ea typeface="Calibri"/>
              <a:cs typeface="Calibri"/>
              <a:sym typeface="Calibri"/>
            </a:endParaRPr>
          </a:p>
        </p:txBody>
      </p:sp>
      <p:sp>
        <p:nvSpPr>
          <p:cNvPr id="217" name="Google Shape;217;p8"/>
          <p:cNvSpPr/>
          <p:nvPr/>
        </p:nvSpPr>
        <p:spPr>
          <a:xfrm>
            <a:off x="777240" y="4553712"/>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E73"/>
              </a:buClr>
              <a:buSzPts val="1050"/>
              <a:buFont typeface="JetBrains Mono"/>
              <a:buNone/>
            </a:pPr>
            <a:r>
              <a:rPr b="0" i="0" lang="en-US" sz="1050" u="none" cap="none" strike="noStrike">
                <a:solidFill>
                  <a:srgbClr val="6E6E73"/>
                </a:solidFill>
                <a:latin typeface="JetBrains Mono"/>
                <a:ea typeface="JetBrains Mono"/>
                <a:cs typeface="JetBrains Mono"/>
                <a:sym typeface="JetBrains Mono"/>
              </a:rPr>
              <a:t>다음 개선 내용</a:t>
            </a:r>
            <a:endParaRPr b="0" i="0" sz="1050" u="none" cap="none" strike="noStrike">
              <a:solidFill>
                <a:schemeClr val="dk1"/>
              </a:solidFill>
              <a:latin typeface="Calibri"/>
              <a:ea typeface="Calibri"/>
              <a:cs typeface="Calibri"/>
              <a:sym typeface="Calibri"/>
            </a:endParaRPr>
          </a:p>
        </p:txBody>
      </p:sp>
      <p:sp>
        <p:nvSpPr>
          <p:cNvPr id="218" name="Google Shape;218;p8"/>
          <p:cNvSpPr/>
          <p:nvPr/>
        </p:nvSpPr>
        <p:spPr>
          <a:xfrm>
            <a:off x="777240" y="4846320"/>
            <a:ext cx="4892040" cy="109728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98989D"/>
              </a:buClr>
              <a:buSzPts val="1100"/>
              <a:buFont typeface="Instrument Sans"/>
              <a:buChar char="•"/>
            </a:pPr>
            <a:r>
              <a:rPr b="0" i="0" lang="en-US" sz="1100" u="none" cap="none" strike="noStrike">
                <a:solidFill>
                  <a:srgbClr val="98989D"/>
                </a:solidFill>
                <a:latin typeface="Instrument Sans"/>
                <a:ea typeface="Instrument Sans"/>
                <a:cs typeface="Instrument Sans"/>
                <a:sym typeface="Instrument Sans"/>
              </a:rPr>
              <a:t>폰트 서브셋 축소로 번들 감량</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98989D"/>
              </a:buClr>
              <a:buSzPts val="1100"/>
              <a:buFont typeface="Instrument Sans"/>
              <a:buChar char="•"/>
            </a:pPr>
            <a:r>
              <a:rPr b="0" i="0" lang="en-US" sz="1100" u="none" cap="none" strike="noStrike">
                <a:solidFill>
                  <a:srgbClr val="98989D"/>
                </a:solidFill>
                <a:latin typeface="Instrument Sans"/>
                <a:ea typeface="Instrument Sans"/>
                <a:cs typeface="Instrument Sans"/>
                <a:sym typeface="Instrument Sans"/>
              </a:rPr>
              <a:t>스트리밍 체감 속도(TTFT) 개선</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98989D"/>
              </a:buClr>
              <a:buSzPts val="1100"/>
              <a:buFont typeface="Instrument Sans"/>
              <a:buChar char="•"/>
            </a:pPr>
            <a:r>
              <a:rPr b="0" i="0" lang="en-US" sz="1100" u="none" cap="none" strike="noStrike">
                <a:solidFill>
                  <a:srgbClr val="98989D"/>
                </a:solidFill>
                <a:latin typeface="Instrument Sans"/>
                <a:ea typeface="Instrument Sans"/>
                <a:cs typeface="Instrument Sans"/>
                <a:sym typeface="Instrument Sans"/>
              </a:rPr>
              <a:t>상태 · 요구사항 변화에 강한 아키텍처 </a:t>
            </a:r>
            <a:r>
              <a:rPr lang="en-US" sz="1100">
                <a:solidFill>
                  <a:srgbClr val="98989D"/>
                </a:solidFill>
                <a:latin typeface="Instrument Sans"/>
                <a:ea typeface="Instrument Sans"/>
                <a:cs typeface="Instrument Sans"/>
                <a:sym typeface="Instrument Sans"/>
              </a:rPr>
              <a:t>- </a:t>
            </a:r>
            <a:r>
              <a:rPr lang="en-US" sz="1100" u="sng">
                <a:solidFill>
                  <a:schemeClr val="hlink"/>
                </a:solidFill>
                <a:latin typeface="Instrument Sans"/>
                <a:ea typeface="Instrument Sans"/>
                <a:cs typeface="Instrument Sans"/>
                <a:sym typeface="Instrument Sans"/>
                <a:hlinkClick r:id="rId3"/>
              </a:rPr>
              <a:t>CLAUDE.md</a:t>
            </a:r>
            <a:r>
              <a:rPr lang="en-US" sz="1100">
                <a:solidFill>
                  <a:srgbClr val="98989D"/>
                </a:solidFill>
                <a:latin typeface="Instrument Sans"/>
                <a:ea typeface="Instrument Sans"/>
                <a:cs typeface="Instrument Sans"/>
                <a:sym typeface="Instrument Sans"/>
              </a:rPr>
              <a:t> 에 추가</a:t>
            </a:r>
            <a:endParaRPr b="0" i="0" sz="1100" u="none" cap="none" strike="noStrike">
              <a:solidFill>
                <a:schemeClr val="dk1"/>
              </a:solidFill>
              <a:latin typeface="Calibri"/>
              <a:ea typeface="Calibri"/>
              <a:cs typeface="Calibri"/>
              <a:sym typeface="Calibri"/>
            </a:endParaRPr>
          </a:p>
        </p:txBody>
      </p:sp>
      <p:sp>
        <p:nvSpPr>
          <p:cNvPr id="219" name="Google Shape;219;p8"/>
          <p:cNvSpPr/>
          <p:nvPr/>
        </p:nvSpPr>
        <p:spPr>
          <a:xfrm>
            <a:off x="6519672" y="1828800"/>
            <a:ext cx="5120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E73"/>
              </a:buClr>
              <a:buSzPts val="1100"/>
              <a:buFont typeface="JetBrains Mono"/>
              <a:buNone/>
            </a:pPr>
            <a:r>
              <a:rPr b="0" i="0" lang="en-US" sz="1100" u="none" cap="none" strike="noStrike">
                <a:solidFill>
                  <a:srgbClr val="6E6E73"/>
                </a:solidFill>
                <a:latin typeface="JetBrains Mono"/>
                <a:ea typeface="JetBrains Mono"/>
                <a:cs typeface="JetBrains Mono"/>
                <a:sym typeface="JetBrains Mono"/>
              </a:rPr>
              <a:t>서비스화하려면 더 필요한 것</a:t>
            </a:r>
            <a:endParaRPr b="0" i="0" sz="1100" u="none" cap="none" strike="noStrike">
              <a:solidFill>
                <a:schemeClr val="dk1"/>
              </a:solidFill>
              <a:latin typeface="Calibri"/>
              <a:ea typeface="Calibri"/>
              <a:cs typeface="Calibri"/>
              <a:sym typeface="Calibri"/>
            </a:endParaRPr>
          </a:p>
        </p:txBody>
      </p:sp>
      <p:sp>
        <p:nvSpPr>
          <p:cNvPr id="220" name="Google Shape;220;p8"/>
          <p:cNvSpPr/>
          <p:nvPr/>
        </p:nvSpPr>
        <p:spPr>
          <a:xfrm>
            <a:off x="6519672" y="2148840"/>
            <a:ext cx="5120640" cy="457200"/>
          </a:xfrm>
          <a:prstGeom prst="roundRect">
            <a:avLst>
              <a:gd fmla="val 12000" name="adj"/>
            </a:avLst>
          </a:prstGeom>
          <a:solidFill>
            <a:srgbClr val="2A2A2C"/>
          </a:solidFill>
          <a:ln cap="flat" cmpd="sng" w="9525">
            <a:solidFill>
              <a:srgbClr val="3A3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8"/>
          <p:cNvSpPr/>
          <p:nvPr/>
        </p:nvSpPr>
        <p:spPr>
          <a:xfrm>
            <a:off x="6748272" y="2148840"/>
            <a:ext cx="46634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F2F5"/>
              </a:buClr>
              <a:buSzPts val="1250"/>
              <a:buFont typeface="Instrument Sans"/>
              <a:buNone/>
            </a:pPr>
            <a:r>
              <a:rPr b="0" i="0" lang="en-US" sz="1250" u="none" cap="none" strike="noStrike">
                <a:solidFill>
                  <a:srgbClr val="F2F2F5"/>
                </a:solidFill>
                <a:latin typeface="Instrument Sans"/>
                <a:ea typeface="Instrument Sans"/>
                <a:cs typeface="Instrument Sans"/>
                <a:sym typeface="Instrument Sans"/>
              </a:rPr>
              <a:t>데이터 영속성</a:t>
            </a:r>
            <a:endParaRPr b="0" i="0" sz="1250" u="none" cap="none" strike="noStrike">
              <a:solidFill>
                <a:schemeClr val="dk1"/>
              </a:solidFill>
              <a:latin typeface="Calibri"/>
              <a:ea typeface="Calibri"/>
              <a:cs typeface="Calibri"/>
              <a:sym typeface="Calibri"/>
            </a:endParaRPr>
          </a:p>
        </p:txBody>
      </p:sp>
      <p:sp>
        <p:nvSpPr>
          <p:cNvPr id="222" name="Google Shape;222;p8"/>
          <p:cNvSpPr/>
          <p:nvPr/>
        </p:nvSpPr>
        <p:spPr>
          <a:xfrm>
            <a:off x="6519672" y="2715768"/>
            <a:ext cx="5120640" cy="457200"/>
          </a:xfrm>
          <a:prstGeom prst="roundRect">
            <a:avLst>
              <a:gd fmla="val 12000" name="adj"/>
            </a:avLst>
          </a:prstGeom>
          <a:solidFill>
            <a:srgbClr val="2A2A2C"/>
          </a:solidFill>
          <a:ln cap="flat" cmpd="sng" w="9525">
            <a:solidFill>
              <a:srgbClr val="3A3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8"/>
          <p:cNvSpPr/>
          <p:nvPr/>
        </p:nvSpPr>
        <p:spPr>
          <a:xfrm>
            <a:off x="6748272" y="2715768"/>
            <a:ext cx="46634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F2F5"/>
              </a:buClr>
              <a:buSzPts val="1250"/>
              <a:buFont typeface="Instrument Sans"/>
              <a:buNone/>
            </a:pPr>
            <a:r>
              <a:rPr b="0" i="0" lang="en-US" sz="1250" u="none" cap="none" strike="noStrike">
                <a:solidFill>
                  <a:srgbClr val="F2F2F5"/>
                </a:solidFill>
                <a:latin typeface="Instrument Sans"/>
                <a:ea typeface="Instrument Sans"/>
                <a:cs typeface="Instrument Sans"/>
                <a:sym typeface="Instrument Sans"/>
              </a:rPr>
              <a:t>사용자별 세션 관리</a:t>
            </a:r>
            <a:endParaRPr b="0" i="0" sz="1250" u="none" cap="none" strike="noStrike">
              <a:solidFill>
                <a:schemeClr val="dk1"/>
              </a:solidFill>
              <a:latin typeface="Calibri"/>
              <a:ea typeface="Calibri"/>
              <a:cs typeface="Calibri"/>
              <a:sym typeface="Calibri"/>
            </a:endParaRPr>
          </a:p>
        </p:txBody>
      </p:sp>
      <p:sp>
        <p:nvSpPr>
          <p:cNvPr id="224" name="Google Shape;224;p8"/>
          <p:cNvSpPr/>
          <p:nvPr/>
        </p:nvSpPr>
        <p:spPr>
          <a:xfrm>
            <a:off x="6519672" y="3282696"/>
            <a:ext cx="5120640" cy="457200"/>
          </a:xfrm>
          <a:prstGeom prst="roundRect">
            <a:avLst>
              <a:gd fmla="val 12000" name="adj"/>
            </a:avLst>
          </a:prstGeom>
          <a:solidFill>
            <a:srgbClr val="2A2A2C"/>
          </a:solidFill>
          <a:ln cap="flat" cmpd="sng" w="9525">
            <a:solidFill>
              <a:srgbClr val="3A3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8"/>
          <p:cNvSpPr/>
          <p:nvPr/>
        </p:nvSpPr>
        <p:spPr>
          <a:xfrm>
            <a:off x="6748272" y="3282696"/>
            <a:ext cx="46634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F2F5"/>
              </a:buClr>
              <a:buSzPts val="1250"/>
              <a:buFont typeface="Instrument Sans"/>
              <a:buNone/>
            </a:pPr>
            <a:r>
              <a:rPr b="0" i="0" lang="en-US" sz="1250" u="none" cap="none" strike="noStrike">
                <a:solidFill>
                  <a:srgbClr val="F2F2F5"/>
                </a:solidFill>
                <a:latin typeface="Instrument Sans"/>
                <a:ea typeface="Instrument Sans"/>
                <a:cs typeface="Instrument Sans"/>
                <a:sym typeface="Instrument Sans"/>
              </a:rPr>
              <a:t>실사용자 검증</a:t>
            </a:r>
            <a:endParaRPr b="0" i="0" sz="1250" u="none" cap="none" strike="noStrike">
              <a:solidFill>
                <a:schemeClr val="dk1"/>
              </a:solidFill>
              <a:latin typeface="Calibri"/>
              <a:ea typeface="Calibri"/>
              <a:cs typeface="Calibri"/>
              <a:sym typeface="Calibri"/>
            </a:endParaRPr>
          </a:p>
        </p:txBody>
      </p:sp>
      <p:sp>
        <p:nvSpPr>
          <p:cNvPr id="226" name="Google Shape;226;p8"/>
          <p:cNvSpPr/>
          <p:nvPr/>
        </p:nvSpPr>
        <p:spPr>
          <a:xfrm>
            <a:off x="6519672" y="3849624"/>
            <a:ext cx="5120640" cy="457200"/>
          </a:xfrm>
          <a:prstGeom prst="roundRect">
            <a:avLst>
              <a:gd fmla="val 12000" name="adj"/>
            </a:avLst>
          </a:prstGeom>
          <a:solidFill>
            <a:srgbClr val="2A2A2C"/>
          </a:solidFill>
          <a:ln cap="flat" cmpd="sng" w="9525">
            <a:solidFill>
              <a:srgbClr val="3A3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8"/>
          <p:cNvSpPr/>
          <p:nvPr/>
        </p:nvSpPr>
        <p:spPr>
          <a:xfrm>
            <a:off x="6748272" y="3849624"/>
            <a:ext cx="46634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F2F5"/>
              </a:buClr>
              <a:buSzPts val="1250"/>
              <a:buFont typeface="Instrument Sans"/>
              <a:buNone/>
            </a:pPr>
            <a:r>
              <a:rPr b="0" i="0" lang="en-US" sz="1250" u="none" cap="none" strike="noStrike">
                <a:solidFill>
                  <a:srgbClr val="F2F2F5"/>
                </a:solidFill>
                <a:latin typeface="Instrument Sans"/>
                <a:ea typeface="Instrument Sans"/>
                <a:cs typeface="Instrument Sans"/>
                <a:sym typeface="Instrument Sans"/>
              </a:rPr>
              <a:t>보안 (프롬프트 인젝션)</a:t>
            </a:r>
            <a:endParaRPr b="0" i="0" sz="1250" u="none" cap="none" strike="noStrike">
              <a:solidFill>
                <a:schemeClr val="dk1"/>
              </a:solidFill>
              <a:latin typeface="Calibri"/>
              <a:ea typeface="Calibri"/>
              <a:cs typeface="Calibri"/>
              <a:sym typeface="Calibri"/>
            </a:endParaRPr>
          </a:p>
        </p:txBody>
      </p:sp>
      <p:sp>
        <p:nvSpPr>
          <p:cNvPr id="228" name="Google Shape;228;p8"/>
          <p:cNvSpPr/>
          <p:nvPr/>
        </p:nvSpPr>
        <p:spPr>
          <a:xfrm>
            <a:off x="6519635" y="4416549"/>
            <a:ext cx="5120700" cy="457200"/>
          </a:xfrm>
          <a:prstGeom prst="roundRect">
            <a:avLst>
              <a:gd fmla="val 12000" name="adj"/>
            </a:avLst>
          </a:prstGeom>
          <a:solidFill>
            <a:srgbClr val="2A2A2C"/>
          </a:solidFill>
          <a:ln cap="flat" cmpd="sng" w="9525">
            <a:solidFill>
              <a:srgbClr val="3A3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8"/>
          <p:cNvSpPr/>
          <p:nvPr/>
        </p:nvSpPr>
        <p:spPr>
          <a:xfrm>
            <a:off x="6748235" y="4416549"/>
            <a:ext cx="46635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F2F5"/>
              </a:buClr>
              <a:buSzPts val="1250"/>
              <a:buFont typeface="Instrument Sans"/>
              <a:buNone/>
            </a:pPr>
            <a:r>
              <a:rPr lang="en-US" sz="1250">
                <a:solidFill>
                  <a:srgbClr val="F0EFEC"/>
                </a:solidFill>
              </a:rPr>
              <a:t>기타 (작업하면서 정리해둔 태스크들)</a:t>
            </a:r>
            <a:endParaRPr i="0" sz="1250" u="none" cap="none" strike="noStrike">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234" name="Shape 234"/>
        <p:cNvGrpSpPr/>
        <p:nvPr/>
      </p:nvGrpSpPr>
      <p:grpSpPr>
        <a:xfrm>
          <a:off x="0" y="0"/>
          <a:ext cx="0" cy="0"/>
          <a:chOff x="0" y="0"/>
          <a:chExt cx="0" cy="0"/>
        </a:xfrm>
      </p:grpSpPr>
      <p:sp>
        <p:nvSpPr>
          <p:cNvPr id="235" name="Google Shape;235;p9"/>
          <p:cNvSpPr/>
          <p:nvPr/>
        </p:nvSpPr>
        <p:spPr>
          <a:xfrm>
            <a:off x="822960" y="2468880"/>
            <a:ext cx="105156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F2F5"/>
              </a:buClr>
              <a:buSzPts val="4800"/>
              <a:buFont typeface="Fraunces"/>
              <a:buNone/>
            </a:pPr>
            <a:r>
              <a:rPr b="0" i="1" lang="en-US" sz="4800" u="none" cap="none" strike="noStrike">
                <a:solidFill>
                  <a:srgbClr val="F2F2F5"/>
                </a:solidFill>
                <a:latin typeface="Fraunces"/>
                <a:ea typeface="Fraunces"/>
                <a:cs typeface="Fraunces"/>
                <a:sym typeface="Fraunces"/>
              </a:rPr>
              <a:t>감사합니다</a:t>
            </a:r>
            <a:endParaRPr b="0" i="0" sz="4800" u="none" cap="none" strike="noStrike">
              <a:solidFill>
                <a:schemeClr val="dk1"/>
              </a:solidFill>
              <a:latin typeface="Calibri"/>
              <a:ea typeface="Calibri"/>
              <a:cs typeface="Calibri"/>
              <a:sym typeface="Calibri"/>
            </a:endParaRPr>
          </a:p>
        </p:txBody>
      </p:sp>
      <p:sp>
        <p:nvSpPr>
          <p:cNvPr id="236" name="Google Shape;236;p9"/>
          <p:cNvSpPr/>
          <p:nvPr/>
        </p:nvSpPr>
        <p:spPr>
          <a:xfrm>
            <a:off x="822960" y="3429000"/>
            <a:ext cx="10515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84FF"/>
              </a:buClr>
              <a:buSzPts val="1600"/>
              <a:buFont typeface="JetBrains Mono"/>
              <a:buNone/>
            </a:pPr>
            <a:r>
              <a:rPr b="0" i="0" lang="en-US" sz="1600" u="none" cap="none" strike="noStrike">
                <a:solidFill>
                  <a:srgbClr val="0A84FF"/>
                </a:solidFill>
                <a:latin typeface="JetBrains Mono"/>
                <a:ea typeface="JetBrains Mono"/>
                <a:cs typeface="JetBrains Mono"/>
                <a:sym typeface="JetBrains Mono"/>
              </a:rPr>
              <a:t>Q&amp;A</a:t>
            </a:r>
            <a:endParaRPr b="0" i="0" sz="1600" u="none" cap="none" strike="noStrike">
              <a:solidFill>
                <a:schemeClr val="dk1"/>
              </a:solidFill>
              <a:latin typeface="Calibri"/>
              <a:ea typeface="Calibri"/>
              <a:cs typeface="Calibri"/>
              <a:sym typeface="Calibri"/>
            </a:endParaRPr>
          </a:p>
        </p:txBody>
      </p:sp>
      <p:sp>
        <p:nvSpPr>
          <p:cNvPr id="237" name="Google Shape;237;p9"/>
          <p:cNvSpPr/>
          <p:nvPr/>
        </p:nvSpPr>
        <p:spPr>
          <a:xfrm>
            <a:off x="822960" y="60350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E73"/>
              </a:buClr>
              <a:buSzPts val="1100"/>
              <a:buFont typeface="JetBrains Mono"/>
              <a:buNone/>
            </a:pPr>
            <a:r>
              <a:rPr b="0" i="0" lang="en-US" sz="1100" u="none" cap="none" strike="noStrike">
                <a:solidFill>
                  <a:srgbClr val="6E6E73"/>
                </a:solidFill>
                <a:latin typeface="JetBrains Mono"/>
                <a:ea typeface="JetBrains Mono"/>
                <a:cs typeface="JetBrains Mono"/>
                <a:sym typeface="JetBrains Mono"/>
              </a:rPr>
              <a:t>개발 1기 · 오승연</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2026-08-26T03:20:55Z</dcterms:created>
  <dc:creator>PptxGenJS</dc:creator>
</cp:coreProperties>
</file>